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VT-002</a:t>
            </a:r>
          </a:p>
          <a:p>
            <a:r>
              <a:t>Alta de Clientes (Cuenta) – Duplicidad y Modelo de Cuentas</a:t>
            </a:r>
          </a:p>
          <a:p>
            <a:r>
              <a:t>CURP obligatoria (regulatoria) como llave de la cuenta para residencial y persona física/pyme física, SIN prefijo técnico. RFC obligatorio para personas morales para prevenir duplicidad.</a:t>
            </a:r>
          </a:p>
          <a:p/>
          <a:p>
            <a:r>
              <a:t>VT-003</a:t>
            </a:r>
          </a:p>
          <a:p>
            <a:r>
              <a:t>Validación de Identidad</a:t>
            </a:r>
          </a:p>
          <a:p>
            <a:r>
              <a:t>Por mandato regulatorio toda contratación valida CURP (o INE) desde el inicio del proceso de venta. En la vista 360 se muestra una alerta cuando falta la CURP para dirigir al cliente al proceso de actualización de datos.</a:t>
            </a:r>
          </a:p>
          <a:p/>
          <a:p>
            <a:r>
              <a:t>VT-004</a:t>
            </a:r>
          </a:p>
          <a:p>
            <a:r>
              <a:t>Alta de Clientes (Cuenta) – Duplicidad y Modelo de Cuentas</a:t>
            </a:r>
          </a:p>
          <a:p>
            <a:r>
              <a:t>Se usa pasaporte (u otro documento oficial vía lista desplegable / campo de identificador externo genérico) solo cuando el cliente no tiene CURP, evitando datos dummy.</a:t>
            </a:r>
          </a:p>
          <a:p/>
          <a:p>
            <a:r>
              <a:t>VT-005</a:t>
            </a:r>
          </a:p>
          <a:p>
            <a:r>
              <a:t>Coliving – Migración de Datos</a:t>
            </a:r>
          </a:p>
          <a:p>
            <a:r>
              <a:t>Para residenciales migrados (sin CURP) el número de línea es la llave principal de búsqueda y el nombre es dato secundario. Se permiten actualizaciones de nombre/datos sin bloquear la operación mientras se normaliza.</a:t>
            </a:r>
          </a:p>
          <a:p/>
          <a:p>
            <a:r>
              <a:t>VT-010</a:t>
            </a:r>
          </a:p>
          <a:p>
            <a:r>
              <a:t>Gestión de Leads – Creación Prospecto</a:t>
            </a:r>
          </a:p>
          <a:p>
            <a:r>
              <a:t>Se conserva la entidad Prospecto (Lead). Se reducen las validaciones que se solapan con el inicio de la venta y se trasladan al momento de generar la orden.</a:t>
            </a:r>
          </a:p>
          <a:p/>
          <a:p>
            <a:r>
              <a:t>VT-013</a:t>
            </a:r>
          </a:p>
          <a:p>
            <a:r>
              <a:t>Coliving – Migración de Datos</a:t>
            </a:r>
          </a:p>
          <a:p>
            <a:r>
              <a:t>Se crea un objeto intermedio entre la Billing Account y la suscripción/línea con un identificador de grupo de facturación, que contiene ciclo de facturación, paperless y domiciliación. Evita la duplicidad de Billing Accounts heredada de PISA.</a:t>
            </a:r>
          </a:p>
          <a:p/>
          <a:p>
            <a:r>
              <a:t>VT-014</a:t>
            </a:r>
          </a:p>
          <a:p>
            <a:r>
              <a:t>Coliving – Migración de Datos</a:t>
            </a:r>
          </a:p>
          <a:p>
            <a:r>
              <a:t>La Service Account representa el domicilio de instalación. Antes de crear una, se busca si ya existe una para el cliente con el mismo identificador de ubicación normalizado (p. ej. en un cambio de domicilio). Las relaciones de servicios pasan a la Suscripción.</a:t>
            </a:r>
          </a:p>
          <a:p/>
          <a:p>
            <a:r>
              <a:t>VT-015</a:t>
            </a:r>
          </a:p>
          <a:p>
            <a:r>
              <a:t>Cesión de Derechos</a:t>
            </a:r>
          </a:p>
          <a:p>
            <a:r>
              <a:t>La actualización de datos no permite cambiar el titular; eso requiere cesión de derechos, que aplica a residencial y pyme física. En pyme moral se actualiza el representante legal/contactos. La Billing Account anterior pasa a inactiva y se validan adeudos previos.</a:t>
            </a:r>
          </a:p>
          <a:p/>
          <a:p>
            <a:r>
              <a:t>VT-017</a:t>
            </a:r>
          </a:p>
          <a:p>
            <a:r>
              <a:t>Alta de Clientes (Cuenta) – Duplicidad y Modelo de Cuentas</a:t>
            </a:r>
          </a:p>
          <a:p>
            <a:r>
              <a:t>Se reutilizan los contactos existentes vinculándolos a la cuenta mediante relaciones con rol (representante legal, contacto de instalación, facturación) y vigencia. La persona que recibe la instalación se guarda como Contacto con rol (hoy solo queda en la orden).</a:t>
            </a:r>
          </a:p>
          <a:p/>
          <a:p>
            <a:r>
              <a:t>VT-020</a:t>
            </a:r>
          </a:p>
          <a:p>
            <a:r>
              <a:t>Canales Digitales (Telmex.com)</a:t>
            </a:r>
          </a:p>
          <a:p>
            <a:r>
              <a:t>La primera creación del prospecto en Salesforce desde telmex.com es síncrona; las actualizaciones posteriores son asíncronas. No se integran en pantalla validaciones pesadas (prefactibilidad) que retrasen la experiencia.</a:t>
            </a:r>
          </a:p>
          <a:p/>
          <a:p>
            <a:r>
              <a:t>VT-022</a:t>
            </a:r>
          </a:p>
          <a:p>
            <a:r>
              <a:t>Canales Digitales (Telmex.com)</a:t>
            </a:r>
          </a:p>
          <a:p>
            <a:r>
              <a:t>En el flujo de contratación digital el contacto adicional es obligatorio. El celular se valida por SMS (WhatsApp o llamada solo como alternativa).</a:t>
            </a:r>
          </a:p>
          <a:p/>
          <a:p>
            <a:r>
              <a:t>VT-023</a:t>
            </a:r>
          </a:p>
          <a:p>
            <a:r>
              <a:t>Canales Digitales (Telmex.com)</a:t>
            </a:r>
          </a:p>
          <a:p>
            <a:r>
              <a:t>La domiciliación del pago (tarjeta de crédito/débito con cargo de validación de $1) es obligatoria para concretar la venta. Se genera un prefolio antes de domiciliar y la orden de servicio definitiva al finalizar.</a:t>
            </a:r>
          </a:p>
          <a:p/>
          <a:p>
            <a:r>
              <a:t>VT-046</a:t>
            </a:r>
          </a:p>
          <a:p>
            <a:r>
              <a:t>Venta / Alta de Producto Físico</a:t>
            </a:r>
          </a:p>
          <a:p>
            <a:r>
              <a:t>La venta de productos físicos en altas nuevas se deshabilita poblando la Fecha Fin del producto en el catálogo con una fecha pasada (no con límite de crédito cero ni cambiando la cardinalidad). Los productos físicos quedan en PISA para postventa, pero se consideran activos del cliente en la migración.</a:t>
            </a:r>
          </a:p>
          <a:p/>
          <a:p>
            <a:r>
              <a:t>VT-048</a:t>
            </a:r>
          </a:p>
          <a:p>
            <a:r>
              <a:t>Ciclo de Vida del Pedido</a:t>
            </a:r>
          </a:p>
          <a:p>
            <a:r>
              <a:t>Si 2 semanas después de la notificación 20 no se vincula el entretenimiento, el pedido se cierra automáticamente como 'no vinculado'.</a:t>
            </a:r>
          </a:p>
          <a:p/>
          <a:p>
            <a:r>
              <a:t>VT-034</a:t>
            </a:r>
          </a:p>
          <a:p>
            <a:r>
              <a:t>Coliving – Migración de Datos</a:t>
            </a:r>
          </a:p>
          <a:p>
            <a:r>
              <a:t>Mapear y cuantificar las excepciones al nuevo modelo de cuentas (p. ej. direcciones de instalación distintas, facturación residencial que absorbe servicios de negocio) y negociar su resolución.</a:t>
            </a:r>
          </a:p>
          <a:p/>
          <a:p>
            <a:r>
              <a:t>VT-036</a:t>
            </a:r>
          </a:p>
          <a:p>
            <a:r>
              <a:t>Líneas Adicionales</a:t>
            </a:r>
          </a:p>
          <a:p>
            <a:r>
              <a:t>Revisar las líneas adicionales con costo registradas hoy y validar su vigencia y estado.</a:t>
            </a:r>
          </a:p>
          <a:p/>
          <a:p>
            <a:r>
              <a:t>VT-043</a:t>
            </a:r>
          </a:p>
          <a:p>
            <a:r>
              <a:t>Procesos PISA (Telmex)</a:t>
            </a:r>
          </a:p>
          <a:p>
            <a:r>
              <a:t>Corregir el proceso de liberación de números en PISA para limpiar historial y línea de crédito del cliente anterior, y coordinar el estado de los servicios resecuenciados entre el maestro de números y Salesforce.</a:t>
            </a:r>
          </a:p>
          <a:p/>
          <a:p>
            <a:r>
              <a:t>VT-045</a:t>
            </a:r>
          </a:p>
          <a:p>
            <a:r>
              <a:t>Canales Digitales (Telmex.com)</a:t>
            </a:r>
          </a:p>
          <a:p>
            <a:r>
              <a:t>Documentar el flujo de contratación digital y sus puntos de abandono.</a:t>
            </a:r>
          </a:p>
          <a:p/>
          <a:p>
            <a:r>
              <a:t>VT-049</a:t>
            </a:r>
          </a:p>
          <a:p>
            <a:r>
              <a:t>Ciclo de Vida del Pedido</a:t>
            </a:r>
          </a:p>
          <a:p>
            <a:r>
              <a:t>Revisar con facturación la división de facturas de los servicios de entretenimiento y su impacto en el cierre de pedidos; definir los estados adicionales para el cierre de órdenes.</a:t>
            </a:r>
          </a:p>
          <a:p/>
          <a:p>
            <a:r>
              <a:t>VT-066</a:t>
            </a:r>
          </a:p>
          <a:p>
            <a:r>
              <a:t>MACD – Actualización de Datos (Contacto / Fiscales)</a:t>
            </a:r>
          </a:p>
          <a:p>
            <a:r>
              <a:t>Definir qué cambios de datos fiscales requieren una nueva Billing Account y confirmar si los grupos de facturación pueden gestionar notificaciones/correo de forma independiente.</a:t>
            </a:r>
          </a:p>
          <a:p/>
          <a:p>
            <a:r>
              <a:t>VT-067</a:t>
            </a:r>
          </a:p>
          <a:p>
            <a:r>
              <a:t>MACD – Actualización de Datos (Contacto / Fiscales)</a:t>
            </a:r>
          </a:p>
          <a:p>
            <a:r>
              <a:t>Evaluar el impacto de actualizar datos de contacto (celular, correo, teléfono adicional) en postventa, ya que Mi Telmex los usa para autenticar.</a:t>
            </a:r>
          </a:p>
          <a:p/>
          <a:p>
            <a:r>
              <a:t>VT-011</a:t>
            </a:r>
          </a:p>
          <a:p>
            <a:r>
              <a:t>Gestión de Leads – Creación Prospecto</a:t>
            </a:r>
          </a:p>
          <a:p>
            <a:r>
              <a:t>Agregar los campos de tipo de documento y RFC en el objeto Prospecto.</a:t>
            </a:r>
          </a:p>
          <a:p/>
          <a:p>
            <a:r>
              <a:t>VT-031</a:t>
            </a:r>
          </a:p>
          <a:p>
            <a:r>
              <a:t>Coliving – Migración de Datos</a:t>
            </a:r>
          </a:p>
          <a:p>
            <a:r>
              <a:t>Crear reglas de validación de campos obligatorios que apliquen solo a clientes migrados sin CURP.</a:t>
            </a:r>
          </a:p>
          <a:p/>
          <a:p>
            <a:r>
              <a:t>VT-032</a:t>
            </a:r>
          </a:p>
          <a:p>
            <a:r>
              <a:t>Coliving – Migración de Datos</a:t>
            </a:r>
          </a:p>
          <a:p>
            <a:r>
              <a:t>Definir el número de línea como identificador clave para todos los migrados de tipo moral.</a:t>
            </a:r>
          </a:p>
          <a:p/>
          <a:p>
            <a:r>
              <a:t>VT-047</a:t>
            </a:r>
          </a:p>
          <a:p>
            <a:r>
              <a:t>Venta / Alta de Producto Físico</a:t>
            </a:r>
          </a:p>
          <a:p>
            <a:r>
              <a:t>Evaluar si el límite de crédito cero es la solución definitiva o si conviene un mecanismo para encender y apagar la venta de productos físicos.</a:t>
            </a:r>
          </a:p>
          <a:p/>
          <a:p>
            <a:r>
              <a:t>VT-009</a:t>
            </a:r>
          </a:p>
          <a:p>
            <a:r>
              <a:t>Buscador Personalizado de Clientes</a:t>
            </a:r>
          </a:p>
          <a:p>
            <a:r>
              <a:t>Definir los criterios de búsqueda para clientes Pyme, incluido el RFC y los datos del representante legal.</a:t>
            </a:r>
          </a:p>
          <a:p/>
          <a:p>
            <a:r>
              <a:t>VT-030</a:t>
            </a:r>
          </a:p>
          <a:p>
            <a:r>
              <a:t>Alta de Clientes (Cuenta) – Duplicidad y Modelo de Cuentas</a:t>
            </a:r>
          </a:p>
          <a:p>
            <a:r>
              <a:t>Definir el procedimiento de registro de extranjeros sin CURP y los tipos de identificación alternativos del campo 'otros documentos'.</a:t>
            </a:r>
          </a:p>
          <a:p/>
          <a:p>
            <a:r>
              <a:t>VT-042</a:t>
            </a:r>
          </a:p>
          <a:p>
            <a:r>
              <a:t>Coliving – Migración de Datos</a:t>
            </a:r>
          </a:p>
          <a:p>
            <a:r>
              <a:t>Presentar a los directores ventajas y desventajas de las estrategias de migración (completa vs. por librerías; México es la librería más grande).</a:t>
            </a:r>
          </a:p>
          <a:p/>
          <a:p>
            <a:r>
              <a:t>VT-044</a:t>
            </a:r>
          </a:p>
          <a:p>
            <a:r>
              <a:t>Canales Digitales (Telmex.com)</a:t>
            </a:r>
          </a:p>
          <a:p>
            <a:r>
              <a:t>Alinear con Daniel y el equipo de canales digitales el punto de creación y validación del cliente (incluidos clientes logueados en telmex.com) para evitar duplicidades, y generar el diagrama del flujo de telmex.com alineado al modelo de datos.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DIG-039</a:t>
            </a:r>
          </a:p>
          <a:p>
            <a:r>
              <a:t>Revisar lo técnico del proyecto para asegurar la alineación entre las opciones planteadas</a:t>
            </a:r>
          </a:p>
          <a:p>
            <a:r>
              <a:t>Revisar lo técnico del proyecto para asegurar la alineación entre las opciones planteadas</a:t>
            </a:r>
          </a:p>
          <a:p/>
          <a:p>
            <a:r>
              <a:t>DIG-044</a:t>
            </a:r>
          </a:p>
          <a:p>
            <a:r>
              <a:t>Elaborar un plan de trabajo detallado para los próximos pasos del proyecto con compromisos y cronogramas de cada equipo</a:t>
            </a:r>
          </a:p>
          <a:p>
            <a:r>
              <a:t>Elaborar un plan de trabajo detallado para los próximos pasos del proyecto con compromisos y cronogramas de cada equipo</a:t>
            </a:r>
          </a:p>
          <a:p/>
          <a:p>
            <a:r>
              <a:t>DIG-010</a:t>
            </a:r>
          </a:p>
          <a:p>
            <a:r>
              <a:t>Las reglas de negocio NO deben embeberse en el código — deben configurarse adecuadamente</a:t>
            </a:r>
          </a:p>
          <a:p>
            <a:r>
              <a:t>Consenso del equipo: las reglas deben ser configurables y no residir dentro del código. Aplica a las Opciones 2 y 3 como base para una arquitectura saludable. (Justificación: Deuda técnica identificada en el carrito actual (domiciliación, marcas); embeber reglas en código dificulta el mantenimiento y las actualizaciones) se hizo la validación que alguna s reglas estaban dentro de lógica de APEX lo cual no es mala practica pero es existen mejores opciones dentro de la configuracióndel catálogo de Producto</a:t>
            </a:r>
          </a:p>
          <a:p/>
          <a:p>
            <a:r>
              <a:t>DIG-011</a:t>
            </a:r>
          </a:p>
          <a:p>
            <a:r>
              <a:t>Selección de arquitectura final aplazada a resultados de PoC</a:t>
            </a:r>
          </a:p>
          <a:p>
            <a:r>
              <a:t>Se difiere la decisión final entre las opciones arquitectónicas, condicionándola a la ejecución de pruebas de concepto y análisis de rendimiento técnico. (Justificación: Opción 2 no tiene casos previos; el rendimiento de Opción 1 bajo carga real no está dimensionado; la decisión requiere evidencia técnica)</a:t>
            </a:r>
          </a:p>
          <a:p/>
          <a:p>
            <a:r>
              <a:t>DIG-012</a:t>
            </a:r>
          </a:p>
          <a:p>
            <a:r>
              <a:t>Ejecutar PoC de Opciones 1 y 2 para comparar rendimiento</a:t>
            </a:r>
          </a:p>
          <a:p>
            <a:r>
              <a:t>Se propone ejecutar pruebas de concepto de las Opciones 1 y 2 para detallar el rendimiento frente al escenario de negocio presentado. (Justificación: Necesidad de evidencia técnica antes de comprometer la arquitectura; Opción 1 tiene menor complejidad pero dudas de rendimiento; Opción 2 tiene mejor performance estimado pero sin precedentes) esto tiene un dependiente de parte del cliente y son los accesos a Mulesoft para el equipo y el alcence es acotado (se ifniere la obtencióndel catálogo) ya que la PoC no puede cubrir un venta punta a punta</a:t>
            </a:r>
          </a:p>
          <a:p/>
          <a:p>
            <a:r>
              <a:t>DIG-037</a:t>
            </a:r>
          </a:p>
          <a:p>
            <a:r>
              <a:t>Enviar a los participantes el documento comparativo de las tres opciones arquitectónicas analizadas</a:t>
            </a:r>
          </a:p>
          <a:p>
            <a:r>
              <a:t>Enviar a los participantes el documento comparativo de las tres opciones arquitectónicas analizadas</a:t>
            </a:r>
          </a:p>
          <a:p/>
          <a:p>
            <a:r>
              <a:t>DIG-038</a:t>
            </a:r>
          </a:p>
          <a:p>
            <a:r>
              <a:t>Contactar a los equipos de catálogo y de ventas para discutir el impacto y la estructura del proyecto de omnicanalidad</a:t>
            </a:r>
          </a:p>
          <a:p>
            <a:r>
              <a:t>Contactar a los equipos de catálogo y de ventas para discutir el impacto y la estructura del proyecto de omnicanalidad</a:t>
            </a:r>
          </a:p>
          <a:p/>
          <a:p>
            <a:r>
              <a:t>DIG-041</a:t>
            </a:r>
          </a:p>
          <a:p>
            <a:r>
              <a:t>Generar un mapa detallado del uso de APIs para identificar los impactos dentro del canal digital</a:t>
            </a:r>
          </a:p>
          <a:p>
            <a:r>
              <a:t>Generar un mapa detallado del uso de APIs para identificar los impactos dentro del canal digital</a:t>
            </a:r>
          </a:p>
          <a:p/>
          <a:p>
            <a:r>
              <a:t>DIG-042</a:t>
            </a:r>
          </a:p>
          <a:p>
            <a:r>
              <a:t>Realizar sesiones internas con el equipo de catálogo para profundizar en la lógica y arquitectura de las reglas</a:t>
            </a:r>
          </a:p>
          <a:p>
            <a:r>
              <a:t>Realizar sesiones internas con el equipo de catálogo para profundizar en la lógica y arquitectura de las reglas</a:t>
            </a:r>
          </a:p>
          <a:p/>
          <a:p>
            <a:r>
              <a:t>DIG-043</a:t>
            </a:r>
          </a:p>
          <a:p>
            <a:r>
              <a:t>Reconfirmar con el equipo de catálogo el funcionamiento de las reglas avanzadas para evitar errores técnicos</a:t>
            </a:r>
          </a:p>
          <a:p>
            <a:r>
              <a:t>Reconfirmar con el equipo de catálogo el funcionamiento de las reglas avanzadas para evitar errores técnicos</a:t>
            </a:r>
          </a:p>
          <a:p/>
          <a:p>
            <a:r>
              <a:t>DIG-045</a:t>
            </a:r>
          </a:p>
          <a:p>
            <a:r>
              <a:t>Desarrollar diagramas técnicos que ilustren el uso de las APIs necesarias para la implementación de la omnicanalidad</a:t>
            </a:r>
          </a:p>
          <a:p>
            <a:r>
              <a:t>Desarrollar diagramas técnicos que ilustren el uso de las APIs necesarias para la implementación de la omnicanalidad</a:t>
            </a:r>
          </a:p>
          <a:p/>
          <a:p>
            <a:r>
              <a:t>DIG-046</a:t>
            </a:r>
          </a:p>
          <a:p>
            <a:r>
              <a:t>Revisar el nuevo flujo de trabajo durante la reunión de cierre e invitar al equipo de ventas para evaluar el avance actual</a:t>
            </a:r>
          </a:p>
          <a:p>
            <a:r>
              <a:t>Revisar el nuevo flujo de trabajo durante la reunión de cierre e invitar al equipo de ventas para evaluar el avance actual</a:t>
            </a:r>
          </a:p>
          <a:p/>
          <a:p>
            <a:r>
              <a:t>DIG-040</a:t>
            </a:r>
          </a:p>
          <a:p>
            <a:r>
              <a:t>Proponer un plan técnico para la habilitación de un entorno sandbox exclusivo que permita realizar pruebas formales</a:t>
            </a:r>
          </a:p>
          <a:p>
            <a:r>
              <a:t>Proponer un plan técnico para la habilitación de un entorno sandbox exclusivo que permita realizar pruebas formales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5cb8e9a6-4c4e-4e52-8931-b83c5b9ff52e.png"/>
          <p:cNvPicPr>
            <a:picLocks noChangeAspect="1"/>
          </p:cNvPicPr>
          <p:nvPr/>
        </p:nvPicPr>
        <p:blipFill>
          <a:blip r:embed="rId2"/>
          <a:stretch>
            <a:fillRect/>
          </a:stretch>
        </p:blipFill>
        <p:spPr>
          <a:xfrm>
            <a:off x="347472" y="201168"/>
            <a:ext cx="616263" cy="384048"/>
          </a:xfrm>
          <a:prstGeom prst="rect">
            <a:avLst/>
          </a:prstGeom>
        </p:spPr>
      </p:pic>
      <p:pic>
        <p:nvPicPr>
          <p:cNvPr id="4" name="Picture 3" descr="Salesforce_Logo-bba9d386-0b81-4089-9e14-3e1cf11a3da7.jpg"/>
          <p:cNvPicPr>
            <a:picLocks noChangeAspect="1"/>
          </p:cNvPicPr>
          <p:nvPr/>
        </p:nvPicPr>
        <p:blipFill>
          <a:blip r:embed="rId3"/>
          <a:stretch>
            <a:fillRect/>
          </a:stretch>
        </p:blipFill>
        <p:spPr>
          <a:xfrm>
            <a:off x="7818120" y="237744"/>
            <a:ext cx="617728" cy="347472"/>
          </a:xfrm>
          <a:prstGeom prst="rect">
            <a:avLst/>
          </a:prstGeom>
        </p:spPr>
      </p:pic>
      <p:sp>
        <p:nvSpPr>
          <p:cNvPr id="5" name="TextBox 4"/>
          <p:cNvSpPr txBox="1"/>
          <p:nvPr/>
        </p:nvSpPr>
        <p:spPr>
          <a:xfrm>
            <a:off x="365760" y="777240"/>
            <a:ext cx="9326880" cy="502920"/>
          </a:xfrm>
          <a:prstGeom prst="rect">
            <a:avLst/>
          </a:prstGeom>
          <a:noFill/>
        </p:spPr>
        <p:txBody>
          <a:bodyPr wrap="square" lIns="54864" rIns="54864" tIns="36576" bIns="18288"/>
          <a:lstStyle/>
          <a:p>
            <a:pPr algn="ctr"/>
            <a:r>
              <a:rPr sz="2800" b="1">
                <a:solidFill>
                  <a:srgbClr val="032D60"/>
                </a:solidFill>
                <a:latin typeface="Arial"/>
              </a:rPr>
              <a:t>Resumen ejecutivo · 30/09/2026</a:t>
            </a:r>
          </a:p>
        </p:txBody>
      </p:sp>
      <p:sp>
        <p:nvSpPr>
          <p:cNvPr id="6" name="TextBox 5"/>
          <p:cNvSpPr txBox="1"/>
          <p:nvPr/>
        </p:nvSpPr>
        <p:spPr>
          <a:xfrm>
            <a:off x="457200" y="1417320"/>
            <a:ext cx="9144000" cy="4572000"/>
          </a:xfrm>
          <a:prstGeom prst="rect">
            <a:avLst/>
          </a:prstGeom>
          <a:noFill/>
        </p:spPr>
        <p:txBody>
          <a:bodyPr wrap="square" lIns="54864" rIns="54864" tIns="36576" bIns="18288"/>
          <a:lstStyle/>
          <a:p>
            <a:pPr>
              <a:spcBef>
                <a:spcPts val="800"/>
              </a:spcBef>
            </a:pPr>
            <a:r>
              <a:rPr sz="1400" b="1">
                <a:solidFill>
                  <a:srgbClr val="032D60"/>
                </a:solidFill>
                <a:latin typeface="Arial"/>
              </a:rPr>
              <a:t>Catalogo   ·   Acuerdos 1   ·   Por acordar 0   ·   Acciones 4</a:t>
            </a:r>
          </a:p>
          <a:p>
            <a:pPr>
              <a:spcBef>
                <a:spcPts val="0"/>
              </a:spcBef>
            </a:pPr>
            <a:r>
              <a:rPr sz="1100" b="0">
                <a:solidFill>
                  <a:srgbClr val="181818"/>
                </a:solidFill>
                <a:latin typeface="Arial"/>
              </a:rPr>
              <a:t>CAT-013, CAT-014, CAT-015, CAT-016, CAT-017</a:t>
            </a:r>
          </a:p>
          <a:p>
            <a:pPr>
              <a:spcBef>
                <a:spcPts val="800"/>
              </a:spcBef>
            </a:pPr>
            <a:r>
              <a:rPr sz="1400" b="1">
                <a:solidFill>
                  <a:srgbClr val="032D60"/>
                </a:solidFill>
                <a:latin typeface="Arial"/>
              </a:rPr>
              <a:t>Ventas   ·   Acuerdos 14   ·   Por acordar 0   ·   Acciones 15</a:t>
            </a:r>
          </a:p>
          <a:p>
            <a:pPr>
              <a:spcBef>
                <a:spcPts val="0"/>
              </a:spcBef>
            </a:pPr>
            <a:r>
              <a:rPr sz="1100" b="0">
                <a:solidFill>
                  <a:srgbClr val="181818"/>
                </a:solidFill>
                <a:latin typeface="Arial"/>
              </a:rPr>
              <a:t>VT-002, VT-003, VT-004, VT-005, VT-009, VT-010, VT-011, VT-013, VT-014, VT-015, VT-017, VT-020, VT-022, VT-023, VT-030, VT-031, VT-032, VT-034, VT-036, VT-042, VT-043, VT-044, VT-045, VT-046, VT-047, VT-048, VT-049, VT-066, VT-067</a:t>
            </a:r>
          </a:p>
          <a:p>
            <a:pPr>
              <a:spcBef>
                <a:spcPts val="800"/>
              </a:spcBef>
            </a:pPr>
            <a:r>
              <a:rPr sz="1400" b="1">
                <a:solidFill>
                  <a:srgbClr val="032D60"/>
                </a:solidFill>
                <a:latin typeface="Arial"/>
              </a:rPr>
              <a:t>Canales Digitales   ·   Acuerdos 2   ·   Por acordar 0   ·   Acciones 13</a:t>
            </a:r>
          </a:p>
          <a:p>
            <a:pPr>
              <a:spcBef>
                <a:spcPts val="0"/>
              </a:spcBef>
            </a:pPr>
            <a:r>
              <a:rPr sz="1100" b="0">
                <a:solidFill>
                  <a:srgbClr val="181818"/>
                </a:solidFill>
                <a:latin typeface="Arial"/>
              </a:rPr>
              <a:t>DIG-009, DIG-010, DIG-011, DIG-012, DIG-013, DIG-037, DIG-038, DIG-039, DIG-040, DIG-041, DIG-042, DIG-043, DIG-044, DIG-045, DIG-046</a:t>
            </a:r>
          </a:p>
        </p:txBody>
      </p:sp>
      <p:sp>
        <p:nvSpPr>
          <p:cNvPr id="7" name="TextBox 6"/>
          <p:cNvSpPr txBox="1"/>
          <p:nvPr/>
        </p:nvSpPr>
        <p:spPr>
          <a:xfrm>
            <a:off x="457200" y="6263640"/>
            <a:ext cx="9144000" cy="1188720"/>
          </a:xfrm>
          <a:prstGeom prst="rect">
            <a:avLst/>
          </a:prstGeom>
          <a:noFill/>
        </p:spPr>
        <p:txBody>
          <a:bodyPr wrap="square" lIns="54864" rIns="54864" tIns="36576" bIns="18288"/>
          <a:lstStyle/>
          <a:p>
            <a:r>
              <a:rPr sz="1400" b="1">
                <a:solidFill>
                  <a:srgbClr val="032D60"/>
                </a:solidFill>
                <a:latin typeface="Arial"/>
              </a:rPr>
              <a:t>ASK al liderazgo de Salesforce</a:t>
            </a:r>
          </a:p>
          <a:p>
            <a:r>
              <a:rPr sz="1300" b="0">
                <a:solidFill>
                  <a:srgbClr val="181818"/>
                </a:solidFill>
                <a:latin typeface="Arial"/>
              </a:rPr>
              <a:t>Sin ASK en los registros de este día.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00" cy="475488"/>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9692640" cy="384048"/>
          </a:xfrm>
          <a:prstGeom prst="rect">
            <a:avLst/>
          </a:prstGeom>
          <a:noFill/>
        </p:spPr>
        <p:txBody>
          <a:bodyPr wrap="square" lIns="54864" rIns="54864" tIns="36576" bIns="18288" anchor="ctr"/>
          <a:lstStyle/>
          <a:p>
            <a:pPr algn="ctr"/>
            <a:r>
              <a:rPr sz="2200" b="1">
                <a:solidFill>
                  <a:srgbClr val="FFFFFF"/>
                </a:solidFill>
                <a:latin typeface="Arial"/>
              </a:rPr>
              <a:t>Catalogo</a:t>
            </a:r>
          </a:p>
        </p:txBody>
      </p:sp>
      <p:sp>
        <p:nvSpPr>
          <p:cNvPr id="5" name="TextBox 4"/>
          <p:cNvSpPr txBox="1"/>
          <p:nvPr/>
        </p:nvSpPr>
        <p:spPr>
          <a:xfrm>
            <a:off x="201168"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Por acordar:</a:t>
            </a:r>
          </a:p>
          <a:p>
            <a:pPr>
              <a:spcBef>
                <a:spcPts val="200"/>
              </a:spcBef>
            </a:pPr>
            <a:r>
              <a:rPr sz="1200" b="0">
                <a:solidFill>
                  <a:srgbClr val="3E5570"/>
                </a:solidFill>
                <a:latin typeface="Arial"/>
              </a:rPr>
              <a:t>Sin registros en el archivo para este día.</a:t>
            </a:r>
          </a:p>
        </p:txBody>
      </p:sp>
      <p:sp>
        <p:nvSpPr>
          <p:cNvPr id="6" name="TextBox 5"/>
          <p:cNvSpPr txBox="1"/>
          <p:nvPr/>
        </p:nvSpPr>
        <p:spPr>
          <a:xfrm>
            <a:off x="3456432"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Acuerdos:</a:t>
            </a:r>
          </a:p>
          <a:p>
            <a:pPr>
              <a:spcBef>
                <a:spcPts val="200"/>
              </a:spcBef>
              <a:spcAft>
                <a:spcPts val="0"/>
              </a:spcAft>
            </a:pPr>
            <a:r>
              <a:rPr sz="1200" b="1">
                <a:solidFill>
                  <a:srgbClr val="181818"/>
                </a:solidFill>
                <a:latin typeface="Arial"/>
              </a:rPr>
              <a:t>✓ CAT-013 Gastos de Instalación en el catálogo</a:t>
            </a:r>
          </a:p>
          <a:p>
            <a:pPr>
              <a:spcBef>
                <a:spcPts val="0"/>
              </a:spcBef>
              <a:spcAft>
                <a:spcPts val="0"/>
              </a:spcAft>
            </a:pPr>
            <a:r>
              <a:rPr sz="1100" b="0">
                <a:solidFill>
                  <a:srgbClr val="181818"/>
                </a:solidFill>
                <a:latin typeface="Arial"/>
              </a:rPr>
              <a:t>Se mueve la configuración de Gastos de Instalación (GI) de la pantalla/carrito de Ventas al catálogo de productos. Se retira GI de la etapa Pagos y Entrega.</a:t>
            </a:r>
          </a:p>
        </p:txBody>
      </p:sp>
      <p:sp>
        <p:nvSpPr>
          <p:cNvPr id="7" name="TextBox 6"/>
          <p:cNvSpPr txBox="1"/>
          <p:nvPr/>
        </p:nvSpPr>
        <p:spPr>
          <a:xfrm>
            <a:off x="6711696"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Próximos pasos:</a:t>
            </a:r>
          </a:p>
          <a:p>
            <a:pPr>
              <a:spcBef>
                <a:spcPts val="200"/>
              </a:spcBef>
              <a:spcAft>
                <a:spcPts val="100"/>
              </a:spcAft>
            </a:pPr>
            <a:r>
              <a:rPr sz="1200" b="1">
                <a:solidFill>
                  <a:srgbClr val="032D60"/>
                </a:solidFill>
                <a:latin typeface="Arial"/>
              </a:rPr>
              <a:t>Equipo</a:t>
            </a:r>
          </a:p>
          <a:p>
            <a:pPr>
              <a:spcBef>
                <a:spcPts val="200"/>
              </a:spcBef>
              <a:spcAft>
                <a:spcPts val="0"/>
              </a:spcAft>
            </a:pPr>
            <a:r>
              <a:rPr sz="1200" b="1">
                <a:solidFill>
                  <a:srgbClr val="181818"/>
                </a:solidFill>
                <a:latin typeface="Arial"/>
              </a:rPr>
              <a:t>✓ CAT-014 Tabla de mapeo de GI hacia PISA</a:t>
            </a:r>
            <a:r>
              <a:rPr sz="1100" b="0">
                <a:solidFill>
                  <a:srgbClr val="3E5570"/>
                </a:solidFill>
                <a:latin typeface="Arial"/>
              </a:rPr>
              <a:t>   Luis Partida / Betsy</a:t>
            </a:r>
          </a:p>
          <a:p>
            <a:pPr>
              <a:spcBef>
                <a:spcPts val="0"/>
              </a:spcBef>
              <a:spcAft>
                <a:spcPts val="0"/>
              </a:spcAft>
            </a:pPr>
            <a:r>
              <a:rPr sz="1100" b="0">
                <a:solidFill>
                  <a:srgbClr val="181818"/>
                </a:solidFill>
                <a:latin typeface="Arial"/>
              </a:rPr>
              <a:t>Confirmar si las informaciones mapeadas en el pasado de la matriz de datos enviadas por Telmex si mantienen como los datos necesarios para enviar a PISA</a:t>
            </a:r>
          </a:p>
          <a:p>
            <a:pPr>
              <a:spcBef>
                <a:spcPts val="200"/>
              </a:spcBef>
              <a:spcAft>
                <a:spcPts val="0"/>
              </a:spcAft>
            </a:pPr>
            <a:r>
              <a:rPr sz="1200" b="1">
                <a:solidFill>
                  <a:srgbClr val="181818"/>
                </a:solidFill>
                <a:latin typeface="Arial"/>
              </a:rPr>
              <a:t>✓ CAT-017 Confirmar datos de modalidades de pago de GI</a:t>
            </a:r>
            <a:r>
              <a:rPr sz="1100" b="0">
                <a:solidFill>
                  <a:srgbClr val="3E5570"/>
                </a:solidFill>
                <a:latin typeface="Arial"/>
              </a:rPr>
              <a:t>   Roberto Guillén</a:t>
            </a:r>
          </a:p>
          <a:p>
            <a:pPr>
              <a:spcBef>
                <a:spcPts val="0"/>
              </a:spcBef>
              <a:spcAft>
                <a:spcPts val="0"/>
              </a:spcAft>
            </a:pPr>
            <a:r>
              <a:rPr sz="1100" b="0">
                <a:solidFill>
                  <a:srgbClr val="181818"/>
                </a:solidFill>
                <a:latin typeface="Arial"/>
              </a:rPr>
              <a:t>PO confirma datos y reglas para las modalidades de pago.</a:t>
            </a:r>
          </a:p>
          <a:p>
            <a:pPr>
              <a:spcBef>
                <a:spcPts val="500"/>
              </a:spcBef>
              <a:spcAft>
                <a:spcPts val="100"/>
              </a:spcAft>
            </a:pPr>
            <a:r>
              <a:rPr sz="1200" b="1">
                <a:solidFill>
                  <a:srgbClr val="032D60"/>
                </a:solidFill>
                <a:latin typeface="Arial"/>
              </a:rPr>
              <a:t>Salesforce</a:t>
            </a:r>
          </a:p>
          <a:p>
            <a:pPr>
              <a:spcBef>
                <a:spcPts val="200"/>
              </a:spcBef>
              <a:spcAft>
                <a:spcPts val="0"/>
              </a:spcAft>
            </a:pPr>
            <a:r>
              <a:rPr sz="1200" b="1">
                <a:solidFill>
                  <a:srgbClr val="181818"/>
                </a:solidFill>
                <a:latin typeface="Arial"/>
              </a:rPr>
              <a:t>✓ CAT-015 Validar políticas comerciales de GI</a:t>
            </a:r>
            <a:r>
              <a:rPr sz="1100" b="0">
                <a:solidFill>
                  <a:srgbClr val="3E5570"/>
                </a:solidFill>
                <a:latin typeface="Arial"/>
              </a:rPr>
              <a:t>   Gustavo Richter</a:t>
            </a:r>
          </a:p>
          <a:p>
            <a:pPr>
              <a:spcBef>
                <a:spcPts val="0"/>
              </a:spcBef>
              <a:spcAft>
                <a:spcPts val="0"/>
              </a:spcAft>
            </a:pPr>
            <a:r>
              <a:rPr sz="1100" b="0">
                <a:solidFill>
                  <a:srgbClr val="181818"/>
                </a:solidFill>
                <a:latin typeface="Arial"/>
              </a:rPr>
              <a:t>Confirmar con Telmex que no hubo cambios de política de GI respecto al proyecto previo a la pausa.</a:t>
            </a:r>
          </a:p>
          <a:p>
            <a:pPr>
              <a:spcBef>
                <a:spcPts val="200"/>
              </a:spcBef>
              <a:spcAft>
                <a:spcPts val="0"/>
              </a:spcAft>
            </a:pPr>
            <a:r>
              <a:rPr sz="1200" b="1">
                <a:solidFill>
                  <a:srgbClr val="181818"/>
                </a:solidFill>
                <a:latin typeface="Arial"/>
              </a:rPr>
              <a:t>✓ CAT-016 Compartir tabla de mapeo de GI con Telmex</a:t>
            </a:r>
            <a:r>
              <a:rPr sz="1100" b="0">
                <a:solidFill>
                  <a:srgbClr val="3E5570"/>
                </a:solidFill>
                <a:latin typeface="Arial"/>
              </a:rPr>
              <a:t>   Gustavo Richter</a:t>
            </a:r>
          </a:p>
          <a:p>
            <a:pPr>
              <a:spcBef>
                <a:spcPts val="0"/>
              </a:spcBef>
              <a:spcAft>
                <a:spcPts val="0"/>
              </a:spcAft>
            </a:pPr>
            <a:r>
              <a:rPr sz="1100" b="0">
                <a:solidFill>
                  <a:srgbClr val="181818"/>
                </a:solidFill>
                <a:latin typeface="Arial"/>
              </a:rPr>
              <a:t>Compartir la tabla de mapeo con Betsy y Lalo.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00" cy="475488"/>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9692640" cy="384048"/>
          </a:xfrm>
          <a:prstGeom prst="rect">
            <a:avLst/>
          </a:prstGeom>
          <a:noFill/>
        </p:spPr>
        <p:txBody>
          <a:bodyPr wrap="square" lIns="54864" rIns="54864" tIns="36576" bIns="18288" anchor="ctr"/>
          <a:lstStyle/>
          <a:p>
            <a:pPr algn="ctr"/>
            <a:r>
              <a:rPr sz="2200" b="1">
                <a:solidFill>
                  <a:srgbClr val="FFFFFF"/>
                </a:solidFill>
                <a:latin typeface="Arial"/>
              </a:rPr>
              <a:t>Ventas</a:t>
            </a:r>
          </a:p>
        </p:txBody>
      </p:sp>
      <p:sp>
        <p:nvSpPr>
          <p:cNvPr id="5" name="TextBox 4"/>
          <p:cNvSpPr txBox="1"/>
          <p:nvPr/>
        </p:nvSpPr>
        <p:spPr>
          <a:xfrm>
            <a:off x="201168" y="566928"/>
            <a:ext cx="3145536" cy="7040880"/>
          </a:xfrm>
          <a:prstGeom prst="rect">
            <a:avLst/>
          </a:prstGeom>
          <a:noFill/>
        </p:spPr>
        <p:txBody>
          <a:bodyPr wrap="square" lIns="54864" rIns="54864" tIns="36576" bIns="18288"/>
          <a:lstStyle/>
          <a:p>
            <a:pPr algn="l">
              <a:spcAft>
                <a:spcPts val="400"/>
              </a:spcAft>
            </a:pPr>
            <a:r>
              <a:rPr sz="1100" b="1">
                <a:solidFill>
                  <a:srgbClr val="032D60"/>
                </a:solidFill>
                <a:latin typeface="Arial"/>
              </a:rPr>
              <a:t>Por acordar:</a:t>
            </a:r>
          </a:p>
          <a:p>
            <a:pPr>
              <a:spcBef>
                <a:spcPts val="200"/>
              </a:spcBef>
            </a:pPr>
            <a:r>
              <a:rPr sz="900" b="0">
                <a:solidFill>
                  <a:srgbClr val="3E5570"/>
                </a:solidFill>
                <a:latin typeface="Arial"/>
              </a:rPr>
              <a:t>Sin registros en el archivo para este día.</a:t>
            </a:r>
          </a:p>
        </p:txBody>
      </p:sp>
      <p:sp>
        <p:nvSpPr>
          <p:cNvPr id="6" name="TextBox 5"/>
          <p:cNvSpPr txBox="1"/>
          <p:nvPr/>
        </p:nvSpPr>
        <p:spPr>
          <a:xfrm>
            <a:off x="3456432"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Acuerdos:</a:t>
            </a:r>
          </a:p>
          <a:p>
            <a:pPr>
              <a:spcBef>
                <a:spcPts val="200"/>
              </a:spcBef>
              <a:spcAft>
                <a:spcPts val="0"/>
              </a:spcAft>
            </a:pPr>
            <a:r>
              <a:rPr sz="1200" b="1">
                <a:solidFill>
                  <a:srgbClr val="181818"/>
                </a:solidFill>
                <a:latin typeface="Arial"/>
              </a:rPr>
              <a:t>✓ VT-002 Alta de Clientes (Cuenta) – Duplicidad y Modelo de Cuentas</a:t>
            </a:r>
          </a:p>
          <a:p>
            <a:pPr>
              <a:spcBef>
                <a:spcPts val="200"/>
              </a:spcBef>
              <a:spcAft>
                <a:spcPts val="0"/>
              </a:spcAft>
            </a:pPr>
            <a:r>
              <a:rPr sz="1200" b="1">
                <a:solidFill>
                  <a:srgbClr val="181818"/>
                </a:solidFill>
                <a:latin typeface="Arial"/>
              </a:rPr>
              <a:t>✓ VT-003 Validación de Identidad</a:t>
            </a:r>
          </a:p>
          <a:p>
            <a:pPr>
              <a:spcBef>
                <a:spcPts val="200"/>
              </a:spcBef>
              <a:spcAft>
                <a:spcPts val="0"/>
              </a:spcAft>
            </a:pPr>
            <a:r>
              <a:rPr sz="1200" b="1">
                <a:solidFill>
                  <a:srgbClr val="181818"/>
                </a:solidFill>
                <a:latin typeface="Arial"/>
              </a:rPr>
              <a:t>✓ VT-004 Alta de Clientes (Cuenta) – Duplicidad y Modelo de Cuentas</a:t>
            </a:r>
          </a:p>
          <a:p>
            <a:pPr>
              <a:spcBef>
                <a:spcPts val="200"/>
              </a:spcBef>
              <a:spcAft>
                <a:spcPts val="0"/>
              </a:spcAft>
            </a:pPr>
            <a:r>
              <a:rPr sz="1200" b="1">
                <a:solidFill>
                  <a:srgbClr val="181818"/>
                </a:solidFill>
                <a:latin typeface="Arial"/>
              </a:rPr>
              <a:t>✓ VT-005 Coliving – Migración de Datos</a:t>
            </a:r>
          </a:p>
          <a:p>
            <a:pPr>
              <a:spcBef>
                <a:spcPts val="200"/>
              </a:spcBef>
              <a:spcAft>
                <a:spcPts val="0"/>
              </a:spcAft>
            </a:pPr>
            <a:r>
              <a:rPr sz="1200" b="1">
                <a:solidFill>
                  <a:srgbClr val="181818"/>
                </a:solidFill>
                <a:latin typeface="Arial"/>
              </a:rPr>
              <a:t>✓ VT-010 Gestión de Leads – Creación Prospecto</a:t>
            </a:r>
          </a:p>
          <a:p>
            <a:pPr>
              <a:spcBef>
                <a:spcPts val="200"/>
              </a:spcBef>
              <a:spcAft>
                <a:spcPts val="0"/>
              </a:spcAft>
            </a:pPr>
            <a:r>
              <a:rPr sz="1200" b="1">
                <a:solidFill>
                  <a:srgbClr val="181818"/>
                </a:solidFill>
                <a:latin typeface="Arial"/>
              </a:rPr>
              <a:t>✓ VT-013 Coliving – Migración de Datos</a:t>
            </a:r>
          </a:p>
          <a:p>
            <a:pPr>
              <a:spcBef>
                <a:spcPts val="200"/>
              </a:spcBef>
              <a:spcAft>
                <a:spcPts val="0"/>
              </a:spcAft>
            </a:pPr>
            <a:r>
              <a:rPr sz="1200" b="1">
                <a:solidFill>
                  <a:srgbClr val="181818"/>
                </a:solidFill>
                <a:latin typeface="Arial"/>
              </a:rPr>
              <a:t>✓ VT-014 Coliving – Migración de Datos</a:t>
            </a:r>
          </a:p>
          <a:p>
            <a:pPr>
              <a:spcBef>
                <a:spcPts val="200"/>
              </a:spcBef>
              <a:spcAft>
                <a:spcPts val="0"/>
              </a:spcAft>
            </a:pPr>
            <a:r>
              <a:rPr sz="1200" b="1">
                <a:solidFill>
                  <a:srgbClr val="181818"/>
                </a:solidFill>
                <a:latin typeface="Arial"/>
              </a:rPr>
              <a:t>✓ VT-015 Cesión de Derechos</a:t>
            </a:r>
          </a:p>
          <a:p>
            <a:pPr>
              <a:spcBef>
                <a:spcPts val="200"/>
              </a:spcBef>
              <a:spcAft>
                <a:spcPts val="0"/>
              </a:spcAft>
            </a:pPr>
            <a:r>
              <a:rPr sz="1200" b="1">
                <a:solidFill>
                  <a:srgbClr val="181818"/>
                </a:solidFill>
                <a:latin typeface="Arial"/>
              </a:rPr>
              <a:t>✓ VT-017 Alta de Clientes (Cuenta) – Duplicidad y Modelo de Cuentas</a:t>
            </a:r>
          </a:p>
          <a:p>
            <a:pPr>
              <a:spcBef>
                <a:spcPts val="200"/>
              </a:spcBef>
              <a:spcAft>
                <a:spcPts val="0"/>
              </a:spcAft>
            </a:pPr>
            <a:r>
              <a:rPr sz="1200" b="1">
                <a:solidFill>
                  <a:srgbClr val="181818"/>
                </a:solidFill>
                <a:latin typeface="Arial"/>
              </a:rPr>
              <a:t>✓ VT-020 Canales Digitales (Telmex.com)</a:t>
            </a:r>
          </a:p>
          <a:p>
            <a:pPr>
              <a:spcBef>
                <a:spcPts val="200"/>
              </a:spcBef>
              <a:spcAft>
                <a:spcPts val="0"/>
              </a:spcAft>
            </a:pPr>
            <a:r>
              <a:rPr sz="1200" b="1">
                <a:solidFill>
                  <a:srgbClr val="181818"/>
                </a:solidFill>
                <a:latin typeface="Arial"/>
              </a:rPr>
              <a:t>✓ VT-022 Canales Digitales (Telmex.com)</a:t>
            </a:r>
          </a:p>
          <a:p>
            <a:pPr>
              <a:spcBef>
                <a:spcPts val="200"/>
              </a:spcBef>
              <a:spcAft>
                <a:spcPts val="0"/>
              </a:spcAft>
            </a:pPr>
            <a:r>
              <a:rPr sz="1200" b="1">
                <a:solidFill>
                  <a:srgbClr val="181818"/>
                </a:solidFill>
                <a:latin typeface="Arial"/>
              </a:rPr>
              <a:t>✓ VT-023 Canales Digitales (Telmex.com)</a:t>
            </a:r>
          </a:p>
          <a:p>
            <a:pPr>
              <a:spcBef>
                <a:spcPts val="200"/>
              </a:spcBef>
              <a:spcAft>
                <a:spcPts val="0"/>
              </a:spcAft>
            </a:pPr>
            <a:r>
              <a:rPr sz="1200" b="1">
                <a:solidFill>
                  <a:srgbClr val="181818"/>
                </a:solidFill>
                <a:latin typeface="Arial"/>
              </a:rPr>
              <a:t>✓ VT-046 Venta / Alta de Producto Físico</a:t>
            </a:r>
          </a:p>
          <a:p>
            <a:pPr>
              <a:spcBef>
                <a:spcPts val="200"/>
              </a:spcBef>
              <a:spcAft>
                <a:spcPts val="0"/>
              </a:spcAft>
            </a:pPr>
            <a:r>
              <a:rPr sz="1200" b="1">
                <a:solidFill>
                  <a:srgbClr val="181818"/>
                </a:solidFill>
                <a:latin typeface="Arial"/>
              </a:rPr>
              <a:t>✓ VT-048 Ciclo de Vida del Pedido</a:t>
            </a:r>
          </a:p>
        </p:txBody>
      </p:sp>
      <p:sp>
        <p:nvSpPr>
          <p:cNvPr id="7" name="TextBox 6"/>
          <p:cNvSpPr txBox="1"/>
          <p:nvPr/>
        </p:nvSpPr>
        <p:spPr>
          <a:xfrm>
            <a:off x="6711696" y="566928"/>
            <a:ext cx="3145536" cy="7040880"/>
          </a:xfrm>
          <a:prstGeom prst="rect">
            <a:avLst/>
          </a:prstGeom>
          <a:noFill/>
        </p:spPr>
        <p:txBody>
          <a:bodyPr wrap="square" lIns="54864" rIns="54864" tIns="36576" bIns="18288"/>
          <a:lstStyle/>
          <a:p>
            <a:pPr algn="l">
              <a:spcAft>
                <a:spcPts val="400"/>
              </a:spcAft>
            </a:pPr>
            <a:r>
              <a:rPr sz="1200" b="1">
                <a:solidFill>
                  <a:srgbClr val="032D60"/>
                </a:solidFill>
                <a:latin typeface="Arial"/>
              </a:rPr>
              <a:t>Próximos pasos:</a:t>
            </a:r>
          </a:p>
          <a:p>
            <a:pPr>
              <a:spcBef>
                <a:spcPts val="200"/>
              </a:spcBef>
              <a:spcAft>
                <a:spcPts val="100"/>
              </a:spcAft>
            </a:pPr>
            <a:r>
              <a:rPr sz="1000" b="1">
                <a:solidFill>
                  <a:srgbClr val="032D60"/>
                </a:solidFill>
                <a:latin typeface="Arial"/>
              </a:rPr>
              <a:t>Equipo</a:t>
            </a:r>
          </a:p>
          <a:p>
            <a:pPr>
              <a:spcBef>
                <a:spcPts val="200"/>
              </a:spcBef>
              <a:spcAft>
                <a:spcPts val="0"/>
              </a:spcAft>
            </a:pPr>
            <a:r>
              <a:rPr sz="1000" b="1">
                <a:solidFill>
                  <a:srgbClr val="181818"/>
                </a:solidFill>
                <a:latin typeface="Arial"/>
              </a:rPr>
              <a:t>✓ VT-034 Coliving – Migración de Datos</a:t>
            </a:r>
            <a:r>
              <a:rPr sz="900" b="0">
                <a:solidFill>
                  <a:srgbClr val="3E5570"/>
                </a:solidFill>
                <a:latin typeface="Arial"/>
              </a:rPr>
              <a:t>   Adriana Jiménez</a:t>
            </a:r>
          </a:p>
          <a:p>
            <a:pPr>
              <a:spcBef>
                <a:spcPts val="200"/>
              </a:spcBef>
              <a:spcAft>
                <a:spcPts val="0"/>
              </a:spcAft>
            </a:pPr>
            <a:r>
              <a:rPr sz="1000" b="1">
                <a:solidFill>
                  <a:srgbClr val="181818"/>
                </a:solidFill>
                <a:latin typeface="Arial"/>
              </a:rPr>
              <a:t>✓ VT-036 Líneas Adicionales</a:t>
            </a:r>
            <a:r>
              <a:rPr sz="900" b="0">
                <a:solidFill>
                  <a:srgbClr val="3E5570"/>
                </a:solidFill>
                <a:latin typeface="Arial"/>
              </a:rPr>
              <a:t>   Adriana Gonzalez</a:t>
            </a:r>
          </a:p>
          <a:p>
            <a:pPr>
              <a:spcBef>
                <a:spcPts val="200"/>
              </a:spcBef>
              <a:spcAft>
                <a:spcPts val="0"/>
              </a:spcAft>
            </a:pPr>
            <a:r>
              <a:rPr sz="1000" b="1">
                <a:solidFill>
                  <a:srgbClr val="181818"/>
                </a:solidFill>
                <a:latin typeface="Arial"/>
              </a:rPr>
              <a:t>✓ VT-043 Procesos PISA (Telmex)</a:t>
            </a:r>
            <a:r>
              <a:rPr sz="900" b="0">
                <a:solidFill>
                  <a:srgbClr val="3E5570"/>
                </a:solidFill>
                <a:latin typeface="Arial"/>
              </a:rPr>
              <a:t>   Por asignar</a:t>
            </a:r>
          </a:p>
          <a:p>
            <a:pPr>
              <a:spcBef>
                <a:spcPts val="200"/>
              </a:spcBef>
              <a:spcAft>
                <a:spcPts val="0"/>
              </a:spcAft>
            </a:pPr>
            <a:r>
              <a:rPr sz="1000" b="1">
                <a:solidFill>
                  <a:srgbClr val="181818"/>
                </a:solidFill>
                <a:latin typeface="Arial"/>
              </a:rPr>
              <a:t>✓ VT-045 Canales Digitales (Telmex.com)</a:t>
            </a:r>
            <a:r>
              <a:rPr sz="900" b="0">
                <a:solidFill>
                  <a:srgbClr val="3E5570"/>
                </a:solidFill>
                <a:latin typeface="Arial"/>
              </a:rPr>
              <a:t>   Por asignar</a:t>
            </a:r>
          </a:p>
          <a:p>
            <a:pPr>
              <a:spcBef>
                <a:spcPts val="200"/>
              </a:spcBef>
              <a:spcAft>
                <a:spcPts val="0"/>
              </a:spcAft>
            </a:pPr>
            <a:r>
              <a:rPr sz="1000" b="1">
                <a:solidFill>
                  <a:srgbClr val="181818"/>
                </a:solidFill>
                <a:latin typeface="Arial"/>
              </a:rPr>
              <a:t>✓ VT-049 Ciclo de Vida del Pedido</a:t>
            </a:r>
            <a:r>
              <a:rPr sz="900" b="0">
                <a:solidFill>
                  <a:srgbClr val="3E5570"/>
                </a:solidFill>
                <a:latin typeface="Arial"/>
              </a:rPr>
              <a:t>   Dania Aguirre</a:t>
            </a:r>
          </a:p>
          <a:p>
            <a:pPr>
              <a:spcBef>
                <a:spcPts val="200"/>
              </a:spcBef>
              <a:spcAft>
                <a:spcPts val="0"/>
              </a:spcAft>
            </a:pPr>
            <a:r>
              <a:rPr sz="1000" b="1">
                <a:solidFill>
                  <a:srgbClr val="181818"/>
                </a:solidFill>
                <a:latin typeface="Arial"/>
              </a:rPr>
              <a:t>✓ VT-066 MACD – Actualización de Datos (Contacto / Fiscales)</a:t>
            </a:r>
            <a:r>
              <a:rPr sz="900" b="0">
                <a:solidFill>
                  <a:srgbClr val="3E5570"/>
                </a:solidFill>
                <a:latin typeface="Arial"/>
              </a:rPr>
              <a:t>   Dania Aguirre</a:t>
            </a:r>
          </a:p>
          <a:p>
            <a:pPr>
              <a:spcBef>
                <a:spcPts val="200"/>
              </a:spcBef>
              <a:spcAft>
                <a:spcPts val="0"/>
              </a:spcAft>
            </a:pPr>
            <a:r>
              <a:rPr sz="1000" b="1">
                <a:solidFill>
                  <a:srgbClr val="181818"/>
                </a:solidFill>
                <a:latin typeface="Arial"/>
              </a:rPr>
              <a:t>✓ VT-067 MACD – Actualización de Datos (Contacto / Fiscales)</a:t>
            </a:r>
            <a:r>
              <a:rPr sz="900" b="0">
                <a:solidFill>
                  <a:srgbClr val="3E5570"/>
                </a:solidFill>
                <a:latin typeface="Arial"/>
              </a:rPr>
              <a:t>   Martin Ayon</a:t>
            </a:r>
          </a:p>
          <a:p>
            <a:pPr>
              <a:spcBef>
                <a:spcPts val="500"/>
              </a:spcBef>
              <a:spcAft>
                <a:spcPts val="100"/>
              </a:spcAft>
            </a:pPr>
            <a:r>
              <a:rPr sz="1000" b="1">
                <a:solidFill>
                  <a:srgbClr val="032D60"/>
                </a:solidFill>
                <a:latin typeface="Arial"/>
              </a:rPr>
              <a:t>Salesforce</a:t>
            </a:r>
          </a:p>
          <a:p>
            <a:pPr>
              <a:spcBef>
                <a:spcPts val="200"/>
              </a:spcBef>
              <a:spcAft>
                <a:spcPts val="0"/>
              </a:spcAft>
            </a:pPr>
            <a:r>
              <a:rPr sz="1000" b="1">
                <a:solidFill>
                  <a:srgbClr val="181818"/>
                </a:solidFill>
                <a:latin typeface="Arial"/>
              </a:rPr>
              <a:t>✓ VT-011 Gestión de Leads – Creación Prospecto</a:t>
            </a:r>
            <a:r>
              <a:rPr sz="900" b="0">
                <a:solidFill>
                  <a:srgbClr val="3E5570"/>
                </a:solidFill>
                <a:latin typeface="Arial"/>
              </a:rPr>
              <a:t>   Por asignar</a:t>
            </a:r>
          </a:p>
          <a:p>
            <a:pPr>
              <a:spcBef>
                <a:spcPts val="200"/>
              </a:spcBef>
              <a:spcAft>
                <a:spcPts val="0"/>
              </a:spcAft>
            </a:pPr>
            <a:r>
              <a:rPr sz="1000" b="1">
                <a:solidFill>
                  <a:srgbClr val="181818"/>
                </a:solidFill>
                <a:latin typeface="Arial"/>
              </a:rPr>
              <a:t>✓ VT-031 Coliving – Migración de Datos</a:t>
            </a:r>
            <a:r>
              <a:rPr sz="900" b="0">
                <a:solidFill>
                  <a:srgbClr val="3E5570"/>
                </a:solidFill>
                <a:latin typeface="Arial"/>
              </a:rPr>
              <a:t>   Equipo conjunto</a:t>
            </a:r>
          </a:p>
          <a:p>
            <a:pPr>
              <a:spcBef>
                <a:spcPts val="200"/>
              </a:spcBef>
              <a:spcAft>
                <a:spcPts val="0"/>
              </a:spcAft>
            </a:pPr>
            <a:r>
              <a:rPr sz="1000" b="1">
                <a:solidFill>
                  <a:srgbClr val="181818"/>
                </a:solidFill>
                <a:latin typeface="Arial"/>
              </a:rPr>
              <a:t>✓ VT-032 Coliving – Migración de Datos</a:t>
            </a:r>
            <a:r>
              <a:rPr sz="900" b="0">
                <a:solidFill>
                  <a:srgbClr val="3E5570"/>
                </a:solidFill>
                <a:latin typeface="Arial"/>
              </a:rPr>
              <a:t>   Nilyan Berti</a:t>
            </a:r>
          </a:p>
          <a:p>
            <a:pPr>
              <a:spcBef>
                <a:spcPts val="200"/>
              </a:spcBef>
              <a:spcAft>
                <a:spcPts val="0"/>
              </a:spcAft>
            </a:pPr>
            <a:r>
              <a:rPr sz="1000" b="1">
                <a:solidFill>
                  <a:srgbClr val="181818"/>
                </a:solidFill>
                <a:latin typeface="Arial"/>
              </a:rPr>
              <a:t>✓ VT-047 Venta / Alta de Producto Físico</a:t>
            </a:r>
            <a:r>
              <a:rPr sz="900" b="0">
                <a:solidFill>
                  <a:srgbClr val="3E5570"/>
                </a:solidFill>
                <a:latin typeface="Arial"/>
              </a:rPr>
              <a:t>   Equipo conjunto</a:t>
            </a:r>
          </a:p>
          <a:p>
            <a:pPr>
              <a:spcBef>
                <a:spcPts val="500"/>
              </a:spcBef>
              <a:spcAft>
                <a:spcPts val="100"/>
              </a:spcAft>
            </a:pPr>
            <a:r>
              <a:rPr sz="1000" b="1">
                <a:solidFill>
                  <a:srgbClr val="032D60"/>
                </a:solidFill>
                <a:latin typeface="Arial"/>
              </a:rPr>
              <a:t>Equipo conjunto</a:t>
            </a:r>
          </a:p>
          <a:p>
            <a:pPr>
              <a:spcBef>
                <a:spcPts val="200"/>
              </a:spcBef>
              <a:spcAft>
                <a:spcPts val="0"/>
              </a:spcAft>
            </a:pPr>
            <a:r>
              <a:rPr sz="1000" b="1">
                <a:solidFill>
                  <a:srgbClr val="181818"/>
                </a:solidFill>
                <a:latin typeface="Arial"/>
              </a:rPr>
              <a:t>✓ VT-009 Buscador Personalizado de Clientes</a:t>
            </a:r>
            <a:r>
              <a:rPr sz="900" b="0">
                <a:solidFill>
                  <a:srgbClr val="3E5570"/>
                </a:solidFill>
                <a:latin typeface="Arial"/>
              </a:rPr>
              <a:t>   Equipo conjunto</a:t>
            </a:r>
          </a:p>
          <a:p>
            <a:pPr>
              <a:spcBef>
                <a:spcPts val="200"/>
              </a:spcBef>
              <a:spcAft>
                <a:spcPts val="0"/>
              </a:spcAft>
            </a:pPr>
            <a:r>
              <a:rPr sz="1000" b="1">
                <a:solidFill>
                  <a:srgbClr val="181818"/>
                </a:solidFill>
                <a:latin typeface="Arial"/>
              </a:rPr>
              <a:t>✓ VT-030 Alta de Clientes (Cuenta) – Duplicidad y Modelo de Cuentas</a:t>
            </a:r>
            <a:r>
              <a:rPr sz="900" b="0">
                <a:solidFill>
                  <a:srgbClr val="3E5570"/>
                </a:solidFill>
                <a:latin typeface="Arial"/>
              </a:rPr>
              <a:t>   Equipo conjunto</a:t>
            </a:r>
          </a:p>
          <a:p>
            <a:pPr>
              <a:spcBef>
                <a:spcPts val="200"/>
              </a:spcBef>
              <a:spcAft>
                <a:spcPts val="0"/>
              </a:spcAft>
            </a:pPr>
            <a:r>
              <a:rPr sz="1000" b="1">
                <a:solidFill>
                  <a:srgbClr val="181818"/>
                </a:solidFill>
                <a:latin typeface="Arial"/>
              </a:rPr>
              <a:t>✓ VT-042 Coliving – Migración de Datos</a:t>
            </a:r>
            <a:r>
              <a:rPr sz="900" b="0">
                <a:solidFill>
                  <a:srgbClr val="3E5570"/>
                </a:solidFill>
                <a:latin typeface="Arial"/>
              </a:rPr>
              <a:t>   Alfonso Lisondo / Joaquín Márquez</a:t>
            </a:r>
          </a:p>
          <a:p>
            <a:pPr>
              <a:spcBef>
                <a:spcPts val="200"/>
              </a:spcBef>
              <a:spcAft>
                <a:spcPts val="0"/>
              </a:spcAft>
            </a:pPr>
            <a:r>
              <a:rPr sz="1000" b="1">
                <a:solidFill>
                  <a:srgbClr val="181818"/>
                </a:solidFill>
                <a:latin typeface="Arial"/>
              </a:rPr>
              <a:t>✓ VT-044 Canales Digitales (Telmex.com)</a:t>
            </a:r>
            <a:r>
              <a:rPr sz="900" b="0">
                <a:solidFill>
                  <a:srgbClr val="3E5570"/>
                </a:solidFill>
                <a:latin typeface="Arial"/>
              </a:rPr>
              <a:t>   Equipo conjunto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00" cy="475488"/>
          </a:xfrm>
          <a:prstGeom prst="rect">
            <a:avLst/>
          </a:prstGeom>
          <a:solidFill>
            <a:srgbClr val="032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45720"/>
            <a:ext cx="9692640" cy="384048"/>
          </a:xfrm>
          <a:prstGeom prst="rect">
            <a:avLst/>
          </a:prstGeom>
          <a:noFill/>
        </p:spPr>
        <p:txBody>
          <a:bodyPr wrap="square" lIns="54864" rIns="54864" tIns="36576" bIns="18288" anchor="ctr"/>
          <a:lstStyle/>
          <a:p>
            <a:pPr algn="ctr"/>
            <a:r>
              <a:rPr sz="2200" b="1">
                <a:solidFill>
                  <a:srgbClr val="FFFFFF"/>
                </a:solidFill>
                <a:latin typeface="Arial"/>
              </a:rPr>
              <a:t>Canales Digitales</a:t>
            </a:r>
          </a:p>
        </p:txBody>
      </p:sp>
      <p:sp>
        <p:nvSpPr>
          <p:cNvPr id="5" name="TextBox 4"/>
          <p:cNvSpPr txBox="1"/>
          <p:nvPr/>
        </p:nvSpPr>
        <p:spPr>
          <a:xfrm>
            <a:off x="201168" y="566928"/>
            <a:ext cx="3145536" cy="7040880"/>
          </a:xfrm>
          <a:prstGeom prst="rect">
            <a:avLst/>
          </a:prstGeom>
          <a:noFill/>
        </p:spPr>
        <p:txBody>
          <a:bodyPr wrap="square" lIns="54864" rIns="54864" tIns="36576" bIns="18288"/>
          <a:lstStyle/>
          <a:p>
            <a:pPr algn="l">
              <a:spcAft>
                <a:spcPts val="400"/>
              </a:spcAft>
            </a:pPr>
            <a:r>
              <a:rPr sz="1200" b="1">
                <a:solidFill>
                  <a:srgbClr val="032D60"/>
                </a:solidFill>
                <a:latin typeface="Arial"/>
              </a:rPr>
              <a:t>Por acordar:</a:t>
            </a:r>
          </a:p>
          <a:p>
            <a:pPr>
              <a:spcBef>
                <a:spcPts val="200"/>
              </a:spcBef>
            </a:pPr>
            <a:r>
              <a:rPr sz="1000" b="0">
                <a:solidFill>
                  <a:srgbClr val="3E5570"/>
                </a:solidFill>
                <a:latin typeface="Arial"/>
              </a:rPr>
              <a:t>Sin registros en el archivo para este día.</a:t>
            </a:r>
          </a:p>
        </p:txBody>
      </p:sp>
      <p:sp>
        <p:nvSpPr>
          <p:cNvPr id="6" name="TextBox 5"/>
          <p:cNvSpPr txBox="1"/>
          <p:nvPr/>
        </p:nvSpPr>
        <p:spPr>
          <a:xfrm>
            <a:off x="3456432" y="566928"/>
            <a:ext cx="3145536" cy="7040880"/>
          </a:xfrm>
          <a:prstGeom prst="rect">
            <a:avLst/>
          </a:prstGeom>
          <a:noFill/>
        </p:spPr>
        <p:txBody>
          <a:bodyPr wrap="square" lIns="54864" rIns="54864" tIns="36576" bIns="18288"/>
          <a:lstStyle/>
          <a:p>
            <a:pPr algn="l">
              <a:spcAft>
                <a:spcPts val="400"/>
              </a:spcAft>
            </a:pPr>
            <a:r>
              <a:rPr sz="1400" b="1">
                <a:solidFill>
                  <a:srgbClr val="032D60"/>
                </a:solidFill>
                <a:latin typeface="Arial"/>
              </a:rPr>
              <a:t>Acuerdos:</a:t>
            </a:r>
          </a:p>
          <a:p>
            <a:pPr>
              <a:spcBef>
                <a:spcPts val="200"/>
              </a:spcBef>
              <a:spcAft>
                <a:spcPts val="0"/>
              </a:spcAft>
            </a:pPr>
            <a:r>
              <a:rPr sz="1200" b="1">
                <a:solidFill>
                  <a:srgbClr val="181818"/>
                </a:solidFill>
                <a:latin typeface="Arial"/>
              </a:rPr>
              <a:t>✓ DIG-009 Integración de TMF Forum para APIs de omnicanalidad</a:t>
            </a:r>
          </a:p>
          <a:p>
            <a:pPr>
              <a:spcBef>
                <a:spcPts val="0"/>
              </a:spcBef>
              <a:spcAft>
                <a:spcPts val="0"/>
              </a:spcAft>
            </a:pPr>
            <a:r>
              <a:rPr sz="1100" b="0">
                <a:solidFill>
                  <a:srgbClr val="181818"/>
                </a:solidFill>
                <a:latin typeface="Arial"/>
              </a:rPr>
              <a:t>Se establece utilizar TMF Forum y MuleSoft para manejar la traducción y creación de prospectos, cuentas y pedidos en los canales digitales. (Justificación: Alineación con estándares de la industria; desacoplamiento del canal respecto a la implementación interna de Salesforce)</a:t>
            </a:r>
          </a:p>
          <a:p>
            <a:pPr>
              <a:spcBef>
                <a:spcPts val="200"/>
              </a:spcBef>
              <a:spcAft>
                <a:spcPts val="0"/>
              </a:spcAft>
            </a:pPr>
            <a:r>
              <a:rPr sz="1200" b="1">
                <a:solidFill>
                  <a:srgbClr val="181818"/>
                </a:solidFill>
                <a:latin typeface="Arial"/>
              </a:rPr>
              <a:t>✓ DIG-013 Sesiones cruzadas programadas para el 01/10/2026: 9:00-11:00 y 11:00-13:00 CST</a:t>
            </a:r>
          </a:p>
          <a:p>
            <a:pPr>
              <a:spcBef>
                <a:spcPts val="0"/>
              </a:spcBef>
              <a:spcAft>
                <a:spcPts val="0"/>
              </a:spcAft>
            </a:pPr>
            <a:r>
              <a:rPr sz="1100" b="0">
                <a:solidFill>
                  <a:srgbClr val="181818"/>
                </a:solidFill>
                <a:latin typeface="Arial"/>
              </a:rPr>
              <a:t>Se programan sesiones de trabajo conjunto para el día siguiente (01/10/2026) en dos bloques: 9:00-11:00 (flujos de integración) y 11:00-13:00 (omnicanalidad). (Justificación: Necesidad de continuar el análisis y definir próximos pasos del proyecto)</a:t>
            </a:r>
          </a:p>
        </p:txBody>
      </p:sp>
      <p:sp>
        <p:nvSpPr>
          <p:cNvPr id="7" name="TextBox 6"/>
          <p:cNvSpPr txBox="1"/>
          <p:nvPr/>
        </p:nvSpPr>
        <p:spPr>
          <a:xfrm>
            <a:off x="6711696" y="566928"/>
            <a:ext cx="3145536" cy="7040880"/>
          </a:xfrm>
          <a:prstGeom prst="rect">
            <a:avLst/>
          </a:prstGeom>
          <a:noFill/>
        </p:spPr>
        <p:txBody>
          <a:bodyPr wrap="square" lIns="54864" rIns="54864" tIns="36576" bIns="18288"/>
          <a:lstStyle/>
          <a:p>
            <a:pPr algn="l">
              <a:spcAft>
                <a:spcPts val="400"/>
              </a:spcAft>
            </a:pPr>
            <a:r>
              <a:rPr sz="1100" b="1">
                <a:solidFill>
                  <a:srgbClr val="032D60"/>
                </a:solidFill>
                <a:latin typeface="Arial"/>
              </a:rPr>
              <a:t>Próximos pasos:</a:t>
            </a:r>
          </a:p>
          <a:p>
            <a:pPr>
              <a:spcBef>
                <a:spcPts val="200"/>
              </a:spcBef>
              <a:spcAft>
                <a:spcPts val="100"/>
              </a:spcAft>
            </a:pPr>
            <a:r>
              <a:rPr sz="900" b="1">
                <a:solidFill>
                  <a:srgbClr val="032D60"/>
                </a:solidFill>
                <a:latin typeface="Arial"/>
              </a:rPr>
              <a:t>Equipo</a:t>
            </a:r>
          </a:p>
          <a:p>
            <a:pPr>
              <a:spcBef>
                <a:spcPts val="200"/>
              </a:spcBef>
              <a:spcAft>
                <a:spcPts val="0"/>
              </a:spcAft>
            </a:pPr>
            <a:r>
              <a:rPr sz="900" b="1">
                <a:solidFill>
                  <a:srgbClr val="181818"/>
                </a:solidFill>
                <a:latin typeface="Arial"/>
              </a:rPr>
              <a:t>✓ DIG-039 Revisar lo técnico del proyecto para […]</a:t>
            </a:r>
            <a:r>
              <a:rPr sz="800" b="0">
                <a:solidFill>
                  <a:srgbClr val="3E5570"/>
                </a:solidFill>
                <a:latin typeface="Arial"/>
              </a:rPr>
              <a:t>   Equipo Telmex · 06/10/2026</a:t>
            </a:r>
          </a:p>
          <a:p>
            <a:pPr>
              <a:spcBef>
                <a:spcPts val="200"/>
              </a:spcBef>
              <a:spcAft>
                <a:spcPts val="0"/>
              </a:spcAft>
            </a:pPr>
            <a:r>
              <a:rPr sz="900" b="1">
                <a:solidFill>
                  <a:srgbClr val="181818"/>
                </a:solidFill>
                <a:latin typeface="Arial"/>
              </a:rPr>
              <a:t>✓ DIG-044 Elaborar un plan de trabajo detallad […]</a:t>
            </a:r>
            <a:r>
              <a:rPr sz="800" b="0">
                <a:solidFill>
                  <a:srgbClr val="3E5570"/>
                </a:solidFill>
                <a:latin typeface="Arial"/>
              </a:rPr>
              <a:t>   Equipo Telmex · 06/10/2026</a:t>
            </a:r>
          </a:p>
          <a:p>
            <a:pPr>
              <a:spcBef>
                <a:spcPts val="500"/>
              </a:spcBef>
              <a:spcAft>
                <a:spcPts val="100"/>
              </a:spcAft>
            </a:pPr>
            <a:r>
              <a:rPr sz="900" b="1">
                <a:solidFill>
                  <a:srgbClr val="032D60"/>
                </a:solidFill>
                <a:latin typeface="Arial"/>
              </a:rPr>
              <a:t>Salesforce</a:t>
            </a:r>
          </a:p>
          <a:p>
            <a:pPr>
              <a:spcBef>
                <a:spcPts val="200"/>
              </a:spcBef>
              <a:spcAft>
                <a:spcPts val="0"/>
              </a:spcAft>
            </a:pPr>
            <a:r>
              <a:rPr sz="900" b="1">
                <a:solidFill>
                  <a:srgbClr val="181818"/>
                </a:solidFill>
                <a:latin typeface="Arial"/>
              </a:rPr>
              <a:t>✓ DIG-010 Las reglas de negocio NO […] · Escalado</a:t>
            </a:r>
            <a:r>
              <a:rPr sz="800" b="0">
                <a:solidFill>
                  <a:srgbClr val="3E5570"/>
                </a:solidFill>
                <a:latin typeface="Arial"/>
              </a:rPr>
              <a:t>   Salesforce (Catálogo TEAM) · 30/09/2026</a:t>
            </a:r>
          </a:p>
          <a:p>
            <a:pPr>
              <a:spcBef>
                <a:spcPts val="200"/>
              </a:spcBef>
              <a:spcAft>
                <a:spcPts val="0"/>
              </a:spcAft>
            </a:pPr>
            <a:r>
              <a:rPr sz="900" b="1">
                <a:solidFill>
                  <a:srgbClr val="181818"/>
                </a:solidFill>
                <a:latin typeface="Arial"/>
              </a:rPr>
              <a:t>✓ DIG-011 Selección de arquitectura final apla […]</a:t>
            </a:r>
            <a:r>
              <a:rPr sz="800" b="0">
                <a:solidFill>
                  <a:srgbClr val="3E5570"/>
                </a:solidFill>
                <a:latin typeface="Arial"/>
              </a:rPr>
              <a:t>   Daniel Murcia, Lorena Salazar · 09/10/2026</a:t>
            </a:r>
          </a:p>
          <a:p>
            <a:pPr>
              <a:spcBef>
                <a:spcPts val="200"/>
              </a:spcBef>
              <a:spcAft>
                <a:spcPts val="0"/>
              </a:spcAft>
            </a:pPr>
            <a:r>
              <a:rPr sz="900" b="1">
                <a:solidFill>
                  <a:srgbClr val="181818"/>
                </a:solidFill>
                <a:latin typeface="Arial"/>
              </a:rPr>
              <a:t>✓ DIG-012 Ejecutar PoC de Opciones 1 y 2 para […]</a:t>
            </a:r>
            <a:r>
              <a:rPr sz="800" b="0">
                <a:solidFill>
                  <a:srgbClr val="3E5570"/>
                </a:solidFill>
                <a:latin typeface="Arial"/>
              </a:rPr>
              <a:t>   Lorena Salazar, Daniel Murcia · 09/10/2026</a:t>
            </a:r>
          </a:p>
          <a:p>
            <a:pPr>
              <a:spcBef>
                <a:spcPts val="200"/>
              </a:spcBef>
              <a:spcAft>
                <a:spcPts val="0"/>
              </a:spcAft>
            </a:pPr>
            <a:r>
              <a:rPr sz="900" b="1">
                <a:solidFill>
                  <a:srgbClr val="181818"/>
                </a:solidFill>
                <a:latin typeface="Arial"/>
              </a:rPr>
              <a:t>✓ DIG-037 Enviar a los participantes el docume […]</a:t>
            </a:r>
            <a:r>
              <a:rPr sz="800" b="0">
                <a:solidFill>
                  <a:srgbClr val="3E5570"/>
                </a:solidFill>
                <a:latin typeface="Arial"/>
              </a:rPr>
              <a:t>   Daniel Murcia · 05/10/2026</a:t>
            </a:r>
          </a:p>
          <a:p>
            <a:pPr>
              <a:spcBef>
                <a:spcPts val="200"/>
              </a:spcBef>
              <a:spcAft>
                <a:spcPts val="0"/>
              </a:spcAft>
            </a:pPr>
            <a:r>
              <a:rPr sz="900" b="1">
                <a:solidFill>
                  <a:srgbClr val="181818"/>
                </a:solidFill>
                <a:latin typeface="Arial"/>
              </a:rPr>
              <a:t>✓ DIG-038 Contactar a los equipos de catálogo […]</a:t>
            </a:r>
            <a:r>
              <a:rPr sz="800" b="0">
                <a:solidFill>
                  <a:srgbClr val="3E5570"/>
                </a:solidFill>
                <a:latin typeface="Arial"/>
              </a:rPr>
              <a:t>   Wantuil Firmiano y Daniel Murcia · 09/10/2026</a:t>
            </a:r>
          </a:p>
          <a:p>
            <a:pPr>
              <a:spcBef>
                <a:spcPts val="200"/>
              </a:spcBef>
              <a:spcAft>
                <a:spcPts val="0"/>
              </a:spcAft>
            </a:pPr>
            <a:r>
              <a:rPr sz="900" b="1">
                <a:solidFill>
                  <a:srgbClr val="181818"/>
                </a:solidFill>
                <a:latin typeface="Arial"/>
              </a:rPr>
              <a:t>✓ DIG-041 Generar un mapa detallado del uso de […]</a:t>
            </a:r>
            <a:r>
              <a:rPr sz="800" b="0">
                <a:solidFill>
                  <a:srgbClr val="3E5570"/>
                </a:solidFill>
                <a:latin typeface="Arial"/>
              </a:rPr>
              <a:t>   Daniel Murcia · 09/10/2026</a:t>
            </a:r>
          </a:p>
          <a:p>
            <a:pPr>
              <a:spcBef>
                <a:spcPts val="200"/>
              </a:spcBef>
              <a:spcAft>
                <a:spcPts val="0"/>
              </a:spcAft>
            </a:pPr>
            <a:r>
              <a:rPr sz="900" b="1">
                <a:solidFill>
                  <a:srgbClr val="181818"/>
                </a:solidFill>
                <a:latin typeface="Arial"/>
              </a:rPr>
              <a:t>✓ DIG-042 Realizar sesiones internas con el eq […]</a:t>
            </a:r>
            <a:r>
              <a:rPr sz="800" b="0">
                <a:solidFill>
                  <a:srgbClr val="3E5570"/>
                </a:solidFill>
                <a:latin typeface="Arial"/>
              </a:rPr>
              <a:t>   Daniel Murcia · 09/10/2026</a:t>
            </a:r>
          </a:p>
          <a:p>
            <a:pPr>
              <a:spcBef>
                <a:spcPts val="200"/>
              </a:spcBef>
              <a:spcAft>
                <a:spcPts val="0"/>
              </a:spcAft>
            </a:pPr>
            <a:r>
              <a:rPr sz="900" b="1">
                <a:solidFill>
                  <a:srgbClr val="181818"/>
                </a:solidFill>
                <a:latin typeface="Arial"/>
              </a:rPr>
              <a:t>✓ DIG-043 Reconfirmar con el equipo de catálog […]</a:t>
            </a:r>
            <a:r>
              <a:rPr sz="800" b="0">
                <a:solidFill>
                  <a:srgbClr val="3E5570"/>
                </a:solidFill>
                <a:latin typeface="Arial"/>
              </a:rPr>
              <a:t>   Daniel Murcia · 09/10/2026</a:t>
            </a:r>
          </a:p>
          <a:p>
            <a:pPr>
              <a:spcBef>
                <a:spcPts val="200"/>
              </a:spcBef>
              <a:spcAft>
                <a:spcPts val="0"/>
              </a:spcAft>
            </a:pPr>
            <a:r>
              <a:rPr sz="900" b="1">
                <a:solidFill>
                  <a:srgbClr val="181818"/>
                </a:solidFill>
                <a:latin typeface="Arial"/>
              </a:rPr>
              <a:t>✓ DIG-045 Desarrollar diagramas técnicos que i […]</a:t>
            </a:r>
            <a:r>
              <a:rPr sz="800" b="0">
                <a:solidFill>
                  <a:srgbClr val="3E5570"/>
                </a:solidFill>
                <a:latin typeface="Arial"/>
              </a:rPr>
              <a:t>   Daniel Murcia · 09/10/2026</a:t>
            </a:r>
          </a:p>
          <a:p>
            <a:pPr>
              <a:spcBef>
                <a:spcPts val="200"/>
              </a:spcBef>
              <a:spcAft>
                <a:spcPts val="0"/>
              </a:spcAft>
            </a:pPr>
            <a:r>
              <a:rPr sz="900" b="1">
                <a:solidFill>
                  <a:srgbClr val="181818"/>
                </a:solidFill>
                <a:latin typeface="Arial"/>
              </a:rPr>
              <a:t>✓ DIG-046 Revisar el nuevo flujo de trabajo du […]</a:t>
            </a:r>
            <a:r>
              <a:rPr sz="800" b="0">
                <a:solidFill>
                  <a:srgbClr val="3E5570"/>
                </a:solidFill>
                <a:latin typeface="Arial"/>
              </a:rPr>
              <a:t>   Daniel Murcia · 02/10/2026</a:t>
            </a:r>
          </a:p>
          <a:p>
            <a:pPr>
              <a:spcBef>
                <a:spcPts val="500"/>
              </a:spcBef>
              <a:spcAft>
                <a:spcPts val="100"/>
              </a:spcAft>
            </a:pPr>
            <a:r>
              <a:rPr sz="900" b="1">
                <a:solidFill>
                  <a:srgbClr val="032D60"/>
                </a:solidFill>
                <a:latin typeface="Arial"/>
              </a:rPr>
              <a:t>Equipo conjunto</a:t>
            </a:r>
          </a:p>
          <a:p>
            <a:pPr>
              <a:spcBef>
                <a:spcPts val="200"/>
              </a:spcBef>
              <a:spcAft>
                <a:spcPts val="0"/>
              </a:spcAft>
            </a:pPr>
            <a:r>
              <a:rPr sz="900" b="1">
                <a:solidFill>
                  <a:srgbClr val="181818"/>
                </a:solidFill>
                <a:latin typeface="Arial"/>
              </a:rPr>
              <a:t>✓ DIG-040 Proponer un plan técnico para la hab […]</a:t>
            </a:r>
            <a:r>
              <a:rPr sz="800" b="0">
                <a:solidFill>
                  <a:srgbClr val="3E5570"/>
                </a:solidFill>
                <a:latin typeface="Arial"/>
              </a:rPr>
              <a:t>   El grupo (con participación de Glenda / equipo catálogo) · 06/10/2026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Resumen ejecutivo 30/09/2026</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