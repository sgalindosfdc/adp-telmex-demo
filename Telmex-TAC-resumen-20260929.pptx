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CAT-008</a:t>
            </a:r>
          </a:p>
          <a:p>
            <a:r>
              <a:t>Compartir lista de promociones y órdenes nuevas</a:t>
            </a:r>
          </a:p>
          <a:p>
            <a:r>
              <a:t>Telmex entrega listado de promociones nuevas y vigentes.</a:t>
            </a:r>
          </a:p>
          <a:p/>
          <a:p>
            <a:r>
              <a:t>CAT-011</a:t>
            </a:r>
          </a:p>
          <a:p>
            <a:r>
              <a:t>Consolidar tabla de ofertas Negocio/PYME</a:t>
            </a:r>
          </a:p>
          <a:p>
            <a:r>
              <a:t>Velocidades, promociones, canales, códigos, precios, paquetes financiados y entretenimiento activo.</a:t>
            </a:r>
          </a:p>
          <a:p/>
          <a:p>
            <a:r>
              <a:t>CAT-009</a:t>
            </a:r>
          </a:p>
          <a:p>
            <a:r>
              <a:t>Optimizar el motor y configurar promociones sin Apex</a:t>
            </a:r>
          </a:p>
          <a:p>
            <a:r>
              <a:t>Evaluar rendimiento y configuración por identificadores/códigos en lugar de código; esquema dinámico para canales digitales.</a:t>
            </a:r>
          </a:p>
          <a:p/>
          <a:p>
            <a:r>
              <a:t>CAT-010</a:t>
            </a:r>
          </a:p>
          <a:p>
            <a:r>
              <a:t>Diseñar remoción automática de promociones</a:t>
            </a:r>
          </a:p>
          <a:p>
            <a:r>
              <a:t>Diseñar remoción en cascada oferta, promociones y productos.</a:t>
            </a:r>
          </a:p>
          <a:p/>
          <a:p>
            <a:r>
              <a:t>CAT-012</a:t>
            </a:r>
          </a:p>
          <a:p>
            <a:r>
              <a:t>Validar vigencia de la configuración de catálogo de diciembre</a:t>
            </a:r>
          </a:p>
          <a:p>
            <a:r>
              <a:t>Confirmar que el catálogo configurado desde diciembre sigue vigente (cambios R2).</a:t>
            </a:r>
          </a:p>
          <a:p/>
          <a:p>
            <a:r>
              <a:t>CAT-007</a:t>
            </a:r>
          </a:p>
          <a:p>
            <a:r>
              <a:t>Repositorio compartido de sesiones</a:t>
            </a:r>
          </a:p>
          <a:p>
            <a:r>
              <a:t>Organizar repositorio en Google Drive para documentación y entregables.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VT-035</a:t>
            </a:r>
          </a:p>
          <a:p>
            <a:r>
              <a:t>Líneas Adicionales</a:t>
            </a:r>
          </a:p>
          <a:p>
            <a:r>
              <a:t>Validar internamente el escenario de líneas adicionales en domicilios distintos y simplificar las reglas comerciales.</a:t>
            </a:r>
          </a:p>
          <a:p/>
          <a:p>
            <a:r>
              <a:t>VT-037</a:t>
            </a:r>
          </a:p>
          <a:p>
            <a:r>
              <a:t>Coliving – Migración de Datos</a:t>
            </a:r>
          </a:p>
          <a:p>
            <a:r>
              <a:t>Investigar las reglas de asignación del CUC y validar si el cliente final lo ve en su recibo.</a:t>
            </a:r>
          </a:p>
          <a:p/>
          <a:p>
            <a:r>
              <a:t>VT-038</a:t>
            </a:r>
          </a:p>
          <a:p>
            <a:r>
              <a:t>Coliving – Migración de Datos</a:t>
            </a:r>
          </a:p>
          <a:p>
            <a:r>
              <a:t>Analizar escenarios de cesión de derechos y definir las reglas de transformación en la migración, incluida la lógica de reemplazo de la base de activos.</a:t>
            </a:r>
          </a:p>
          <a:p/>
          <a:p>
            <a:r>
              <a:t>VT-039</a:t>
            </a:r>
          </a:p>
          <a:p>
            <a:r>
              <a:t>Coliving – Migración de Datos</a:t>
            </a:r>
          </a:p>
          <a:p>
            <a:r>
              <a:t>Recopilar la lista definitiva de atributos requeridos para la Service Account.</a:t>
            </a:r>
          </a:p>
          <a:p/>
          <a:p>
            <a:r>
              <a:t>VT-040</a:t>
            </a:r>
          </a:p>
          <a:p>
            <a:r>
              <a:t>Coliving – Migración de Datos</a:t>
            </a:r>
          </a:p>
          <a:p>
            <a:r>
              <a:t>Evaluar y autorizar el plan de saneamiento y normalización de datos (nombres, contactos, pymes clasificadas como residenciales, cuentas duplicadas) en PISA antes de migrar.</a:t>
            </a:r>
          </a:p>
          <a:p/>
          <a:p>
            <a:r>
              <a:t>VT-033</a:t>
            </a:r>
          </a:p>
          <a:p>
            <a:r>
              <a:t>Coliving – Migración de Datos</a:t>
            </a:r>
          </a:p>
          <a:p>
            <a:r>
              <a:t>Continuar el diseño del modelo de clientes y documentar los escenarios de migración (incluido el ejercicio de los 60 segundos para validar el modelo final).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DIG-003</a:t>
            </a:r>
          </a:p>
          <a:p>
            <a:r>
              <a:t>Cancelar sesiones de la mañana del 30/09/2026 para trabajo interno</a:t>
            </a:r>
          </a:p>
          <a:p>
            <a:r>
              <a:t>Se cancelan las sesiones de la mañana del 30/09/2026 (9:00 AM y 1:00 PM). Una única sesión conjunta de 4:00-5:30 PM para revisar el primer borrador de propuestas. (Justificación: El equipo necesita tiempo de trabajo interno para elaborar alternativas técnicas antes de presentarlas)</a:t>
            </a:r>
          </a:p>
          <a:p/>
          <a:p>
            <a:r>
              <a:t>DIG-020</a:t>
            </a:r>
          </a:p>
          <a:p>
            <a:r>
              <a:t>Desarrollar esquema detallado con los pasos y puntos de integración del proceso de ventas actual (diagrama de flujo con servicios por paso)</a:t>
            </a:r>
          </a:p>
          <a:p>
            <a:r>
              <a:t>Desarrollar esquema detallado con los pasos y puntos de integración del proceso de ventas actual (diagrama de flujo con servicios por paso)</a:t>
            </a:r>
          </a:p>
          <a:p/>
          <a:p>
            <a:r>
              <a:t>DIG-021</a:t>
            </a:r>
          </a:p>
          <a:p>
            <a:r>
              <a:t>Compartir documentación técnica sobre la composición actual de los paquetes y el catálogo de productos</a:t>
            </a:r>
          </a:p>
          <a:p>
            <a:r>
              <a:t>Compartir documentación técnica sobre la composición actual de los paquetes y el catálogo de productos</a:t>
            </a:r>
          </a:p>
          <a:p/>
          <a:p>
            <a:r>
              <a:t>DIG-023</a:t>
            </a:r>
          </a:p>
          <a:p>
            <a:r>
              <a:t>Facilitar la información técnica necesaria sobre la normalización y el manejo de direcciones en el sistema</a:t>
            </a:r>
          </a:p>
          <a:p>
            <a:r>
              <a:t>Facilitar la información técnica necesaria sobre la normalización y el manejo de direcciones en el sistema</a:t>
            </a:r>
          </a:p>
          <a:p/>
          <a:p>
            <a:r>
              <a:t>DIG-024</a:t>
            </a:r>
          </a:p>
          <a:p>
            <a:r>
              <a:t>Compartir el documento con los flujos y pantallas discutidas durante la reunión para análisis del equipo técnico</a:t>
            </a:r>
          </a:p>
          <a:p>
            <a:r>
              <a:t>Compartir el documento con los flujos y pantallas discutidas durante la reunión para análisis del equipo técnico</a:t>
            </a:r>
          </a:p>
          <a:p/>
          <a:p>
            <a:r>
              <a:t>DIG-028</a:t>
            </a:r>
          </a:p>
          <a:p>
            <a:r>
              <a:t>Lanzar la sesión de revisión de 4:00 a 5:30 PM del 30/09/2026 para revisar el primer borrador de propuestas</a:t>
            </a:r>
          </a:p>
          <a:p>
            <a:r>
              <a:t>Lanzar la sesión de revisión de 4:00 a 5:30 PM del 30/09/2026 para revisar el primer borrador de propuestas</a:t>
            </a:r>
          </a:p>
          <a:p/>
          <a:p>
            <a:r>
              <a:t>DIG-029</a:t>
            </a:r>
          </a:p>
          <a:p>
            <a:r>
              <a:t>Mantener la sesión de las 9:00 AM del 30/09/2026 para trabajo interno; crear invitación para la sesión de 1:00 PM</a:t>
            </a:r>
          </a:p>
          <a:p>
            <a:r>
              <a:t>Mantener la sesión de las 9:00 AM del 30/09/2026 para trabajo interno; crear invitación para la sesión de 1:00 PM</a:t>
            </a:r>
          </a:p>
          <a:p/>
          <a:p>
            <a:r>
              <a:t>DIG-025</a:t>
            </a:r>
          </a:p>
          <a:p>
            <a:r>
              <a:t>Verificar el tipo de licencias actuales en MuleSoft para determinar la viabilidad de utilizar MCP</a:t>
            </a:r>
          </a:p>
          <a:p>
            <a:r>
              <a:t>Verificar el tipo de licencias actuales en MuleSoft para determinar la viabilidad de utilizar MCP</a:t>
            </a:r>
          </a:p>
          <a:p/>
          <a:p>
            <a:r>
              <a:t>DIG-026</a:t>
            </a:r>
          </a:p>
          <a:p>
            <a:r>
              <a:t>Evaluar y proponer el desarrollo en paralelo de un agente IA autónomo integrado en el canal de WhatsApp de Salesforce (Agentforce)</a:t>
            </a:r>
          </a:p>
          <a:p>
            <a:r>
              <a:t>Evaluar y proponer el desarrollo en paralelo de un agente IA autónomo integrado en el canal de WhatsApp de Salesforce (Agentforce)</a:t>
            </a:r>
          </a:p>
          <a:p/>
          <a:p>
            <a:r>
              <a:t>DIG-027</a:t>
            </a:r>
          </a:p>
          <a:p>
            <a:r>
              <a:t>Crear borrador con los posibles caminos técnicos de integración (DC APIs, carrito, caché web), incluyendo ventajas, desventajas y análisis de performance</a:t>
            </a:r>
          </a:p>
          <a:p>
            <a:r>
              <a:t>Crear borrador con los posibles caminos técnicos de integración (DC APIs, carrito, caché web), incluyendo ventajas, desventajas y análisis de performance</a:t>
            </a:r>
          </a:p>
          <a:p/>
          <a:p>
            <a:r>
              <a:t>DIG-030</a:t>
            </a:r>
          </a:p>
          <a:p>
            <a:r>
              <a:t>Notificar al equipo sobre la reorganización de sesiones del 30/09/2026 y compartir las ligas de acceso</a:t>
            </a:r>
          </a:p>
          <a:p>
            <a:r>
              <a:t>Notificar al equipo sobre la reorganización de sesiones del 30/09/2026 y compartir las ligas de acceso</a:t>
            </a:r>
          </a:p>
          <a:p/>
          <a:p>
            <a:r>
              <a:t>DIG-022</a:t>
            </a:r>
          </a:p>
          <a:p>
            <a:r>
              <a:t>Definir la estrategia de caché y el flujo de servicios para optimizar los tiempos de carga en la arquitectura del catálogo</a:t>
            </a:r>
          </a:p>
          <a:p>
            <a:r>
              <a:t>Definir la estrategia de caché y el flujo de servicios para optimizar los tiempos de carga en la arquitectura del catálogo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5cb8e9a6-4c4e-4e52-8931-b83c5b9ff5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616263" cy="384048"/>
          </a:xfrm>
          <a:prstGeom prst="rect">
            <a:avLst/>
          </a:prstGeom>
        </p:spPr>
      </p:pic>
      <p:pic>
        <p:nvPicPr>
          <p:cNvPr id="4" name="Picture 3" descr="Salesforce_Logo-bba9d386-0b81-4089-9e14-3e1cf11a3da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37744"/>
            <a:ext cx="617728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777240"/>
            <a:ext cx="9326880" cy="50292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ctr"/>
            <a:r>
              <a:rPr sz="2800" b="1">
                <a:solidFill>
                  <a:srgbClr val="032D60"/>
                </a:solidFill>
                <a:latin typeface="Arial"/>
              </a:rPr>
              <a:t>Resumen ejecutivo · 29/09/2026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9144000" cy="457200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>
              <a:spcBef>
                <a:spcPts val="800"/>
              </a:spcBef>
            </a:pPr>
            <a:r>
              <a:rPr sz="1400" b="1">
                <a:solidFill>
                  <a:srgbClr val="032D60"/>
                </a:solidFill>
                <a:latin typeface="Arial"/>
              </a:rPr>
              <a:t>Catalogo   ·   Acuerdos 1   ·   Por acordar 2   ·   Acciones 6</a:t>
            </a:r>
          </a:p>
          <a:p>
            <a:pPr>
              <a:spcBef>
                <a:spcPts val="0"/>
              </a:spcBef>
            </a:pPr>
            <a:r>
              <a:rPr sz="1100" b="0">
                <a:solidFill>
                  <a:srgbClr val="181818"/>
                </a:solidFill>
                <a:latin typeface="Arial"/>
              </a:rPr>
              <a:t>CAT-004, CAT-005, CAT-006, CAT-007, CAT-008, CAT-009, CAT-010, CAT-011, CAT-012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32D60"/>
                </a:solidFill>
                <a:latin typeface="Arial"/>
              </a:rPr>
              <a:t>Ventas   ·   Acuerdos 1   ·   Por acordar 0   ·   Acciones 6</a:t>
            </a:r>
          </a:p>
          <a:p>
            <a:pPr>
              <a:spcBef>
                <a:spcPts val="0"/>
              </a:spcBef>
            </a:pPr>
            <a:r>
              <a:rPr sz="1100" b="0">
                <a:solidFill>
                  <a:srgbClr val="181818"/>
                </a:solidFill>
                <a:latin typeface="Arial"/>
              </a:rPr>
              <a:t>VT-006, VT-033, VT-035, VT-037, VT-038, VT-039, VT-040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32D60"/>
                </a:solidFill>
                <a:latin typeface="Arial"/>
              </a:rPr>
              <a:t>Canales Digitales   ·   Acuerdos 2   ·   Por acordar 0   ·   Acciones 12</a:t>
            </a:r>
          </a:p>
          <a:p>
            <a:pPr>
              <a:spcBef>
                <a:spcPts val="0"/>
              </a:spcBef>
            </a:pPr>
            <a:r>
              <a:rPr sz="1100" b="0">
                <a:solidFill>
                  <a:srgbClr val="181818"/>
                </a:solidFill>
                <a:latin typeface="Arial"/>
              </a:rPr>
              <a:t>DIG-001, DIG-002, DIG-003, DIG-020, DIG-021, DIG-022, DIG-023, DIG-024, DIG-025, DIG-026, DIG-027, DIG-028, DIG-029, DIG-030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32D60"/>
                </a:solidFill>
                <a:latin typeface="Arial"/>
              </a:rPr>
              <a:t>Cross   ·   Acuerdos 1   ·   Por acordar 0   ·   Acciones 0</a:t>
            </a:r>
          </a:p>
          <a:p>
            <a:pPr>
              <a:spcBef>
                <a:spcPts val="0"/>
              </a:spcBef>
            </a:pPr>
            <a:r>
              <a:rPr sz="1100" b="0">
                <a:solidFill>
                  <a:srgbClr val="181818"/>
                </a:solidFill>
                <a:latin typeface="Arial"/>
              </a:rPr>
              <a:t>ARQ-01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9144000" cy="118872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r>
              <a:rPr sz="1400" b="1">
                <a:solidFill>
                  <a:srgbClr val="032D60"/>
                </a:solidFill>
                <a:latin typeface="Arial"/>
              </a:rPr>
              <a:t>ASK al liderazgo de Salesforce</a:t>
            </a:r>
          </a:p>
          <a:p>
            <a:r>
              <a:rPr sz="1300" b="0">
                <a:solidFill>
                  <a:srgbClr val="181818"/>
                </a:solidFill>
                <a:latin typeface="Arial"/>
              </a:rPr>
              <a:t>Sin ASK en los registros de este día.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00" cy="475488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9692640" cy="384048"/>
          </a:xfrm>
          <a:prstGeom prst="rect">
            <a:avLst/>
          </a:prstGeom>
          <a:noFill/>
        </p:spPr>
        <p:txBody>
          <a:bodyPr wrap="square" lIns="54864" rIns="54864" tIns="36576" bIns="18288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Catalogo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Por acordar: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CAT-004 Promociones por zona geográfica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Entran al análisis las promociones por zona geográfica (Distrito + Librería) y por domiciliación. Prioridad: convivencia y domiciliación, después zona geográfica.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CAT-006 Vista consolidada de paquetes Negocio y priorización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Consolidar paquetes Negocio y priorizar backlog contra R2; 5 meses y 5 sprints de referencia.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Acuerdos: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CAT-005 Remoción automática de promociones en el carrito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Al remover una oferta/paquete (ej. 389) deben manejarse las dependencias de promociones y productos asociados (ej. Netflix).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11696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Próximos pasos: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1">
                <a:solidFill>
                  <a:srgbClr val="032D60"/>
                </a:solidFill>
                <a:latin typeface="Arial"/>
              </a:rPr>
              <a:t>Equipo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CAT-008 Compartir lista de promociones y órdenes nuevas</a:t>
            </a:r>
            <a:r>
              <a:rPr sz="1100" b="0">
                <a:solidFill>
                  <a:srgbClr val="3E5570"/>
                </a:solidFill>
                <a:latin typeface="Arial"/>
              </a:rPr>
              <a:t>   Carlos Albarrán / Lorena Salazar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CAT-011 Consolidar tabla de ofertas Negocio/PYME</a:t>
            </a:r>
            <a:r>
              <a:rPr sz="1100" b="0">
                <a:solidFill>
                  <a:srgbClr val="3E5570"/>
                </a:solidFill>
                <a:latin typeface="Arial"/>
              </a:rPr>
              <a:t>   Charlie Albarrán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1">
                <a:solidFill>
                  <a:srgbClr val="032D60"/>
                </a:solidFill>
                <a:latin typeface="Arial"/>
              </a:rPr>
              <a:t>Salesforce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CAT-009 Optimizar el motor y configurar promociones sin Apex</a:t>
            </a:r>
            <a:r>
              <a:rPr sz="1100" b="0">
                <a:solidFill>
                  <a:srgbClr val="3E5570"/>
                </a:solidFill>
                <a:latin typeface="Arial"/>
              </a:rPr>
              <a:t>   Gustavo Richter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CAT-010 Diseñar remoción automática de promociones</a:t>
            </a:r>
            <a:r>
              <a:rPr sz="1100" b="0">
                <a:solidFill>
                  <a:srgbClr val="3E5570"/>
                </a:solidFill>
                <a:latin typeface="Arial"/>
              </a:rPr>
              <a:t>   Gustavo Richter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CAT-012 Validar vigencia de la configuración de catálogo de diciembre</a:t>
            </a:r>
            <a:r>
              <a:rPr sz="1100" b="0">
                <a:solidFill>
                  <a:srgbClr val="3E5570"/>
                </a:solidFill>
                <a:latin typeface="Arial"/>
              </a:rPr>
              <a:t>   Por asignar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1">
                <a:solidFill>
                  <a:srgbClr val="032D60"/>
                </a:solidFill>
                <a:latin typeface="Arial"/>
              </a:rPr>
              <a:t>Equipo conjunto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CAT-007 Repositorio compartido de sesiones</a:t>
            </a:r>
            <a:r>
              <a:rPr sz="1100" b="0">
                <a:solidFill>
                  <a:srgbClr val="3E5570"/>
                </a:solidFill>
                <a:latin typeface="Arial"/>
              </a:rPr>
              <a:t>   Eduardo Ordúñez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00" cy="475488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9692640" cy="384048"/>
          </a:xfrm>
          <a:prstGeom prst="rect">
            <a:avLst/>
          </a:prstGeom>
          <a:noFill/>
        </p:spPr>
        <p:txBody>
          <a:bodyPr wrap="square" lIns="54864" rIns="54864" tIns="36576" bIns="18288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Ventas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Por acordar: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E5570"/>
                </a:solidFill>
                <a:latin typeface="Arial"/>
              </a:rPr>
              <a:t>Sin registros en el archivo para este día.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Acuerdos: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VT-006 Coliving – Migración de Datos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El CUC no se usa en las búsquedas del cliente final; queda solo para cruces internos y como unificador en la migración.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11696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Próximos pasos: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1">
                <a:solidFill>
                  <a:srgbClr val="032D60"/>
                </a:solidFill>
                <a:latin typeface="Arial"/>
              </a:rPr>
              <a:t>Equipo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VT-035 Líneas Adicionales</a:t>
            </a:r>
            <a:r>
              <a:rPr sz="1100" b="0">
                <a:solidFill>
                  <a:srgbClr val="3E5570"/>
                </a:solidFill>
                <a:latin typeface="Arial"/>
              </a:rPr>
              <a:t>   Sergio Flores · 06/10/2026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Validar internamente el escenario de líneas ad […]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VT-037 Coliving – Migración de Datos</a:t>
            </a:r>
            <a:r>
              <a:rPr sz="1100" b="0">
                <a:solidFill>
                  <a:srgbClr val="3E5570"/>
                </a:solidFill>
                <a:latin typeface="Arial"/>
              </a:rPr>
              <a:t>   Sergio Flores · 05/10/2026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Investigar las reglas de asignación del CUC y […]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VT-038 Coliving – Migración de Datos</a:t>
            </a:r>
            <a:r>
              <a:rPr sz="1100" b="0">
                <a:solidFill>
                  <a:srgbClr val="3E5570"/>
                </a:solidFill>
                <a:latin typeface="Arial"/>
              </a:rPr>
              <a:t>   Sergio Flores · 09/10/2026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Analizar escenarios de cesión de derechos y de […]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VT-039 Coliving – Migración de Datos</a:t>
            </a:r>
            <a:r>
              <a:rPr sz="1100" b="0">
                <a:solidFill>
                  <a:srgbClr val="3E5570"/>
                </a:solidFill>
                <a:latin typeface="Arial"/>
              </a:rPr>
              <a:t>   Sergio Flores · 02/10/2026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Recopilar la lista definitiva de atributos req […]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VT-040 Coliving – Migración de Datos · Escalado</a:t>
            </a:r>
            <a:r>
              <a:rPr sz="1100" b="0">
                <a:solidFill>
                  <a:srgbClr val="3E5570"/>
                </a:solidFill>
                <a:latin typeface="Arial"/>
              </a:rPr>
              <a:t>   Sergio Flores / Adriana Gonzalez · 12/10/2026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Evaluar y autorizar el plan de saneamiento y n […]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1">
                <a:solidFill>
                  <a:srgbClr val="032D60"/>
                </a:solidFill>
                <a:latin typeface="Arial"/>
              </a:rPr>
              <a:t>Salesforce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VT-033 Coliving – Migración de Datos</a:t>
            </a:r>
            <a:r>
              <a:rPr sz="1100" b="0">
                <a:solidFill>
                  <a:srgbClr val="3E5570"/>
                </a:solidFill>
                <a:latin typeface="Arial"/>
              </a:rPr>
              <a:t>   Nilyan Berti · 06/10/2026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Continuar el diseño del modelo de clientes y d […]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00" cy="475488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9692640" cy="384048"/>
          </a:xfrm>
          <a:prstGeom prst="rect">
            <a:avLst/>
          </a:prstGeom>
          <a:noFill/>
        </p:spPr>
        <p:txBody>
          <a:bodyPr wrap="square" lIns="54864" rIns="54864" tIns="36576" bIns="18288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Canales Digitales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32D60"/>
                </a:solidFill>
                <a:latin typeface="Arial"/>
              </a:rPr>
              <a:t>Por acordar: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E5570"/>
                </a:solidFill>
                <a:latin typeface="Arial"/>
              </a:rPr>
              <a:t>Sin registros en el archivo para este día.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Acuerdos: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DIG-001 Priorización de canales para el primer release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telmex.com es la prioridad del primer release. WhatsApp/Watson y canales adicionales se programan para un segundo release. (Justificación: telmex.com tiene el mayor impacto inmediato y la mayor madurez de flujo; WhatsApp requiere trabajo adicional (domiciliación, integración))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DIG-002 Pedidos de canales digitales deben ser soportados end-to-end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Los pedidos provenientes de canales digitales deben ser soportados, procesados y cerrados correctamente dentro de la plataforma Salesforce y los sistemas legados. (Justificación: Continuidad operativa y visibilidad de assets; el canal digital no puede generar pedidos que queden en estado inconsistente)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11696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32D60"/>
                </a:solidFill>
                <a:latin typeface="Arial"/>
              </a:rPr>
              <a:t>Próximos pasos: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900" b="1">
                <a:solidFill>
                  <a:srgbClr val="032D60"/>
                </a:solidFill>
                <a:latin typeface="Arial"/>
              </a:rPr>
              <a:t>Equipo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00" b="1">
                <a:solidFill>
                  <a:srgbClr val="181818"/>
                </a:solidFill>
                <a:latin typeface="Arial"/>
              </a:rPr>
              <a:t>✓ DIG-003 Cancelar sesiones de la mañana del 30/09/2026 para t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Equipo Telmex · 29/09/2026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00" b="1">
                <a:solidFill>
                  <a:srgbClr val="181818"/>
                </a:solidFill>
                <a:latin typeface="Arial"/>
              </a:rPr>
              <a:t>✓ DIG-020 Desarrollar esquema detallado con los pasos y puntos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Equipo Telmex · 01/10/2026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00" b="1">
                <a:solidFill>
                  <a:srgbClr val="181818"/>
                </a:solidFill>
                <a:latin typeface="Arial"/>
              </a:rPr>
              <a:t>✓ DIG-021 Compartir documentación técnica sobre la composición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El grupo (Jesús Procesos / Victor Montiel) · 01/10/2026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00" b="1">
                <a:solidFill>
                  <a:srgbClr val="181818"/>
                </a:solidFill>
                <a:latin typeface="Arial"/>
              </a:rPr>
              <a:t>✓ DIG-023 Facilitar la información técnica necesaria sobre la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Equipo Telmex · 02/10/2026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00" b="1">
                <a:solidFill>
                  <a:srgbClr val="181818"/>
                </a:solidFill>
                <a:latin typeface="Arial"/>
              </a:rPr>
              <a:t>✓ DIG-024 Compartir el documento con los flujos y pantallas di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Jesús Procesos · 01/10/2026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00" b="1">
                <a:solidFill>
                  <a:srgbClr val="181818"/>
                </a:solidFill>
                <a:latin typeface="Arial"/>
              </a:rPr>
              <a:t>✓ DIG-028 Lanzar la sesión de revisión de 4:00 a 5:30 PM del 3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Jesús Procesos · 29/09/2026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00" b="1">
                <a:solidFill>
                  <a:srgbClr val="181818"/>
                </a:solidFill>
                <a:latin typeface="Arial"/>
              </a:rPr>
              <a:t>✓ DIG-029 Mantener la sesión de las 9:00 AM del 30/09/2026 par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Victor Montiel · 29/09/2026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032D60"/>
                </a:solidFill>
                <a:latin typeface="Arial"/>
              </a:rPr>
              <a:t>Salesforce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00" b="1">
                <a:solidFill>
                  <a:srgbClr val="181818"/>
                </a:solidFill>
                <a:latin typeface="Arial"/>
              </a:rPr>
              <a:t>✓ DIG-025 Verificar el tipo de licencias actuales en MuleSoft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Wantuil Firmiano · 02/10/2026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00" b="1">
                <a:solidFill>
                  <a:srgbClr val="181818"/>
                </a:solidFill>
                <a:latin typeface="Arial"/>
              </a:rPr>
              <a:t>✓ DIG-026 Evaluar y proponer el desarrollo en paralelo de un a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Wantuil Firmiano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00" b="1">
                <a:solidFill>
                  <a:srgbClr val="181818"/>
                </a:solidFill>
                <a:latin typeface="Arial"/>
              </a:rPr>
              <a:t>✓ DIG-027 Crear borrador con los posibles caminos técnicos de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Daniel Murcia, Sebastian Garcia Rontani · 02/10/2026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00" b="1">
                <a:solidFill>
                  <a:srgbClr val="181818"/>
                </a:solidFill>
                <a:latin typeface="Arial"/>
              </a:rPr>
              <a:t>✓ DIG-030 Notificar al equipo sobre la reorganización de sesio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Daniel Murcia · 29/09/2026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032D60"/>
                </a:solidFill>
                <a:latin typeface="Arial"/>
              </a:rPr>
              <a:t>Equipo conjunto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00" b="1">
                <a:solidFill>
                  <a:srgbClr val="181818"/>
                </a:solidFill>
                <a:latin typeface="Arial"/>
              </a:rPr>
              <a:t>✓ DIG-022 Definir la estrategia de caché y el flujo de servici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El grupo (Daniel Murcia, Sebastian Garcia Rontani, Jesús Procesos) · 09/10/2026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00" cy="475488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9692640" cy="384048"/>
          </a:xfrm>
          <a:prstGeom prst="rect">
            <a:avLst/>
          </a:prstGeom>
          <a:noFill/>
        </p:spPr>
        <p:txBody>
          <a:bodyPr wrap="square" lIns="54864" rIns="54864" tIns="36576" bIns="18288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Cross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Por acordar: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E5570"/>
                </a:solidFill>
                <a:latin typeface="Arial"/>
              </a:rPr>
              <a:t>Sin registros en el archivo para este día.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Acuerdos: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ARQ-01 Separación Telmex / Telnor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Se acuerda eliminar la separación entre Telmex y Telnor: ambas operan de forma unificada en la solución. Se debe revisar el impacto en el modelo de seguridad, el modelo de cuentas y la estructura comercial, y retirar o adaptar lo que se haya diseñado o construido para seg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11696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Próximos pasos: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E5570"/>
                </a:solidFill>
                <a:latin typeface="Arial"/>
              </a:rPr>
              <a:t>Sin registros en el archivo para este día.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Resumen ejecutivo 29/09/2026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