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VT-007</a:t>
            </a:r>
          </a:p>
          <a:p>
            <a:r>
              <a:t>Buscador Personalizado de Clientes</a:t>
            </a:r>
          </a:p>
          <a:p>
            <a:r>
              <a:t>El inicio de atención (cliente nuevo o activo) pasa obligatoriamente por el buscador, que guía al asesor paso a paso. Prioridad: número de línea → tipo y número de identificación (CURP por defecto; pasaporte/INE como alternativa) → nombre, con verificación procedimental de identidad antes de convertir. Datos enmascarados para canales externos.</a:t>
            </a:r>
          </a:p>
          <a:p/>
          <a:p>
            <a:r>
              <a:t>VT-029</a:t>
            </a:r>
          </a:p>
          <a:p>
            <a:r>
              <a:t>Mejoras en la Experiencia del Carrito</a:t>
            </a:r>
          </a:p>
          <a:p>
            <a:r>
              <a:t>Evaluar como base la propuesta de carrito de Lorena Priego Blancas (costo de desarrollo, integración con la matriz de precios)</a:t>
            </a:r>
          </a:p>
          <a:p/>
          <a:p>
            <a:r>
              <a:t>VT-050</a:t>
            </a:r>
          </a:p>
          <a:p>
            <a:r>
              <a:t>UX – Vista 360, Home Ventas y Listas</a:t>
            </a:r>
          </a:p>
          <a:p>
            <a:r>
              <a:t>Se desarrolla un componente Lightning custom para que toda la interfaz y etiquetas estén 100% en español. Auditoría de textos para corregir traducciones.</a:t>
            </a:r>
          </a:p>
          <a:p/>
          <a:p>
            <a:r>
              <a:t>VT-051</a:t>
            </a:r>
          </a:p>
          <a:p>
            <a:r>
              <a:t>UX – Vista 360, Home Ventas y Listas</a:t>
            </a:r>
          </a:p>
          <a:p>
            <a:r>
              <a:t>Activos agrupados por suscripción (nombre del paquete concatenado, sin doble agrupación); número de servicio/línea como identificador de la suscripción; se quita el precio único y se conserva el total recurrente; Billing Account y grupo en el encabezado; solo paquetes y activos activos; pestañas separadas para servicios Residenciales y Pymes.</a:t>
            </a:r>
          </a:p>
          <a:p/>
          <a:p>
            <a:r>
              <a:t>VT-053</a:t>
            </a:r>
          </a:p>
          <a:p>
            <a:r>
              <a:t>Experiencia de Usuario</a:t>
            </a:r>
          </a:p>
          <a:p>
            <a:r>
              <a:t>El cliente valida y acepta mediante códigos enviados de forma manual; el agente no lee los términos en pantalla.</a:t>
            </a:r>
          </a:p>
          <a:p/>
          <a:p>
            <a:r>
              <a:t>VT-054</a:t>
            </a:r>
          </a:p>
          <a:p>
            <a:r>
              <a:t>Experiencia de Usuario</a:t>
            </a:r>
          </a:p>
          <a:p>
            <a:r>
              <a:t>Los mensajes de error deben indicar solo el dato faltante (sin cajas naranjas en cada etapa); los errores no controlados muestran un mensaje estándar para reportar a la mesa de ayuda; diferenciar error/advertencia/información con iconos y colores.</a:t>
            </a:r>
          </a:p>
          <a:p/>
          <a:p>
            <a:r>
              <a:t>VT-060</a:t>
            </a:r>
          </a:p>
          <a:p>
            <a:r>
              <a:t>Experiencia de Usuario</a:t>
            </a:r>
          </a:p>
          <a:p>
            <a:r>
              <a:t>Incorporar métricas de ventas mensuales para el comercializador (ventas del mes, metas, pedidos pendientes) en la vista principal, revisar sus permisos y rediseñar la botonera de inicio.</a:t>
            </a:r>
          </a:p>
          <a:p/>
          <a:p>
            <a:r>
              <a:t>VT-062</a:t>
            </a:r>
          </a:p>
          <a:p>
            <a:r>
              <a:t>Experiencia de Usuario</a:t>
            </a:r>
          </a:p>
          <a:p>
            <a:r>
              <a:t>Verificar la disponibilidad de licencias y funcionalidades de CTI en Service Cloud para identificar llamadas entrantes y abrir el registro.</a:t>
            </a:r>
          </a:p>
          <a:p/>
          <a:p>
            <a:r>
              <a:t>VT-058</a:t>
            </a:r>
          </a:p>
          <a:p>
            <a:r>
              <a:t>UX – Vista 360, Home Ventas y Listas</a:t>
            </a:r>
          </a:p>
          <a:p>
            <a:r>
              <a:t>Agendar sesión de UX para revisar historias pendientes y lo ya liberado en producción, y hacer una prueba end-to-end de la vista 360 en sesión presencial.</a:t>
            </a:r>
          </a:p>
          <a:p/>
          <a:p>
            <a:r>
              <a:t>VT-059</a:t>
            </a:r>
          </a:p>
          <a:p>
            <a:r>
              <a:t>UX – Vista 360, Home Ventas y Listas</a:t>
            </a:r>
          </a:p>
          <a:p>
            <a:r>
              <a:t>Agendar sesión para revisar campo por campo las vistas de cuentas, pedidos y prospectos, y compartir el documento de diagnóstico y el diagrama del flujo de ventas.</a:t>
            </a:r>
          </a:p>
          <a:p/>
          <a:p>
            <a:r>
              <a:t>VT-061</a:t>
            </a:r>
          </a:p>
          <a:p>
            <a:r>
              <a:t>UX – Vista 360, Home Ventas y Listas</a:t>
            </a:r>
          </a:p>
          <a:p>
            <a:r>
              <a:t>Revisar el campo orden de servicio (hoy no se llena) y aplicar un cambio de emergencia en producción si es necesario.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DIG-014</a:t>
            </a:r>
          </a:p>
          <a:p>
            <a:r>
              <a:t>Domiciliación obligatoria para cerrar la venta en telmex.com</a:t>
            </a:r>
          </a:p>
          <a:p>
            <a:r>
              <a:t>La domiciliación es un requisito obligatorio para cerrar la venta en el canal digital. Sin domiciliar, el flujo no continúa. (Justificación: Política comercial de Telmex: garantiza el cobro recurrente; el flujo actual no tiene camino alternativo sin domiciliación)</a:t>
            </a:r>
          </a:p>
          <a:p/>
          <a:p>
            <a:r>
              <a:t>DIG-015</a:t>
            </a:r>
          </a:p>
          <a:p>
            <a:r>
              <a:t>Renta anticipada de $400 se reubica junto a la domiciliación</a:t>
            </a:r>
          </a:p>
          <a:p>
            <a:r>
              <a:t>El cobro de $400 de renta anticipada (actualmente en otros canales, no en telmex.com) debe ubicarse junto al paso de domiciliación cuando se active. (Justificación: No tiene sentido solicitar la renta anticipada antes de que el cliente haya seleccionado su paquete y domiciliado)</a:t>
            </a:r>
          </a:p>
          <a:p/>
          <a:p>
            <a:r>
              <a:t>DIG-016</a:t>
            </a:r>
          </a:p>
          <a:p>
            <a:r>
              <a:t>Zona geográfica se añade como filtro en el diagrama de flujo</a:t>
            </a:r>
          </a:p>
          <a:p>
            <a:r>
              <a:t>La zona geográfica se incorpora como filtro visible en el diagrama de flujo, al igual que el filtro de empresa (Telmex/Telnor). (Justificación: Diferencias de oferta por zona son reales (ej. Telnor sin F1); el diagrama debe reflejarlo para el diseño correcto de la solución)</a:t>
            </a:r>
          </a:p>
          <a:p/>
          <a:p>
            <a:r>
              <a:t>DIG-017</a:t>
            </a:r>
          </a:p>
          <a:p>
            <a:r>
              <a:t>Portabilidad se agrega debajo del tipo de paquete en el diagrama</a:t>
            </a:r>
          </a:p>
          <a:p>
            <a:r>
              <a:t>La portabilidad se mueve visualmente en el diagrama para quedar debajo de la selección del tipo de paquete, antes del botón de atención personalizada. (Justificación: Mejora la legibilidad del diagrama y la lógica del flujo)</a:t>
            </a:r>
          </a:p>
          <a:p/>
          <a:p>
            <a:r>
              <a:t>DIG-019</a:t>
            </a:r>
          </a:p>
          <a:p>
            <a:r>
              <a:t>Sesión de cierre de primera semana: 02/10/2026, 11:00 AM – 1:00 PM</a:t>
            </a:r>
          </a:p>
          <a:p>
            <a:r>
              <a:t>Se programa sesión de cierre de la primera semana del proyecto para el 02/10/2026 de 11:00 a 13:00 hrs, con consolidación de entregables y definición de próximos pasos. (Justificación: Necesidad de cerrar los entendimientos de la primera semana y alinear la agenda de trabajo de la siguiente semana)</a:t>
            </a:r>
          </a:p>
          <a:p/>
          <a:p>
            <a:r>
              <a:t>DIG-048</a:t>
            </a:r>
          </a:p>
          <a:p>
            <a:r>
              <a:t>Añadir el filtro de zona geográfica en el diagrama de flujo actual</a:t>
            </a:r>
          </a:p>
          <a:p>
            <a:r>
              <a:t>Añadir el filtro de zona geográfica en el diagrama de flujo actual</a:t>
            </a:r>
          </a:p>
          <a:p/>
          <a:p>
            <a:r>
              <a:t>DIG-049</a:t>
            </a:r>
          </a:p>
          <a:p>
            <a:r>
              <a:t>Incluir el punto de portabilidad en el diagrama de flujo debajo del tipo de paquete</a:t>
            </a:r>
          </a:p>
          <a:p>
            <a:r>
              <a:t>Incluir el punto de portabilidad en el diagrama de flujo debajo del tipo de paquete</a:t>
            </a:r>
          </a:p>
          <a:p/>
          <a:p>
            <a:r>
              <a:t>DIG-050</a:t>
            </a:r>
          </a:p>
          <a:p>
            <a:r>
              <a:t>Documentar y actualizar los archivos de contexto para incluir las especificaciones de los portales Telnor y Telmex</a:t>
            </a:r>
          </a:p>
          <a:p>
            <a:r>
              <a:t>Documentar y actualizar los archivos de contexto para incluir las especificaciones de los portales Telnor y Telmex</a:t>
            </a:r>
          </a:p>
          <a:p/>
          <a:p>
            <a:r>
              <a:t>DIG-051</a:t>
            </a:r>
          </a:p>
          <a:p>
            <a:r>
              <a:t>Definir el paso exacto en el flujo de compra donde se deben ofrecer los productos físicos (MESH)</a:t>
            </a:r>
          </a:p>
          <a:p>
            <a:r>
              <a:t>Definir el paso exacto en el flujo de compra donde se deben ofrecer los productos físicos (MESH)</a:t>
            </a:r>
          </a:p>
          <a:p/>
          <a:p>
            <a:r>
              <a:t>DIG-055</a:t>
            </a:r>
          </a:p>
          <a:p>
            <a:r>
              <a:t>Realizar sesión de arquitectura integral para definir el flujo de comunicación y el uso de licencias de MuleSoft (MIC vs. MuleSoft directo)</a:t>
            </a:r>
          </a:p>
          <a:p>
            <a:r>
              <a:t>Realizar sesión de arquitectura integral para definir el flujo de comunicación y el uso de licencias de MuleSoft (MIC vs. MuleSoft directo)</a:t>
            </a:r>
          </a:p>
          <a:p/>
          <a:p>
            <a:r>
              <a:t>DIG-060</a:t>
            </a:r>
          </a:p>
          <a:p>
            <a:r>
              <a:t>Consultar la oferta comercial y revisar la matriz de productos (entretenimientos y reglas) para asegurar su correcta implementación</a:t>
            </a:r>
          </a:p>
          <a:p>
            <a:r>
              <a:t>Consultar la oferta comercial y revisar la matriz de productos (entretenimientos y reglas) para asegurar su correcta implementación</a:t>
            </a:r>
          </a:p>
          <a:p/>
          <a:p>
            <a:r>
              <a:t>DIG-018</a:t>
            </a:r>
          </a:p>
          <a:p>
            <a:r>
              <a:t>Sesión cross interna requerida antes de comprometer la arquitectura</a:t>
            </a:r>
          </a:p>
          <a:p>
            <a:r>
              <a:t>Antes de presentar una propuesta de arquitectura al equipo completo, el equipo Salesforce realizará una sesión interna cross con ventas y otros equipos para validar la matriz y la arquitectura de integración. (Justificación: Evitar presentar una propuesta incompleta que el equipo de Telmex rechace por inconsistencias con otros sistemas)</a:t>
            </a:r>
          </a:p>
          <a:p/>
          <a:p>
            <a:r>
              <a:t>DIG-052</a:t>
            </a:r>
          </a:p>
          <a:p>
            <a:r>
              <a:t>Resolver el mecanismo para la gestión del External ID de las transacciones de pago dentro de Salesforce</a:t>
            </a:r>
          </a:p>
          <a:p>
            <a:r>
              <a:t>Resolver el mecanismo para la gestión del External ID de las transacciones de pago dentro de Salesforce</a:t>
            </a:r>
          </a:p>
          <a:p/>
          <a:p>
            <a:r>
              <a:t>DIG-054</a:t>
            </a:r>
          </a:p>
          <a:p>
            <a:r>
              <a:t>Evaluar qué información debe consolidarse en Salesforce para la vista 360 sin generar transacciones excesivas; evaluar Data Cloud</a:t>
            </a:r>
          </a:p>
          <a:p>
            <a:r>
              <a:t>Evaluar qué información debe consolidarse en Salesforce para la vista 360 sin generar transacciones excesivas; evaluar Data Cloud</a:t>
            </a:r>
          </a:p>
          <a:p/>
          <a:p>
            <a:r>
              <a:t>DIG-059</a:t>
            </a:r>
          </a:p>
          <a:p>
            <a:r>
              <a:t>Configurar un entorno integral de Salesforce + MuleSoft para validar los mecanismos de almacenamiento del catálogo (prueba de concepto DC APIs)</a:t>
            </a:r>
          </a:p>
          <a:p>
            <a:r>
              <a:t>Configurar un entorno integral de Salesforce + MuleSoft para validar los mecanismos de almacenamiento del catálogo (prueba de concepto DC APIs)</a:t>
            </a:r>
          </a:p>
          <a:p/>
          <a:p>
            <a:r>
              <a:t>DIG-061</a:t>
            </a:r>
          </a:p>
          <a:p>
            <a:r>
              <a:t>Abordar requisitos no funcionales la próxima semana: cuotas de transacciones, límites de plataforma Salesforce y límites de caché MuleSoft</a:t>
            </a:r>
          </a:p>
          <a:p>
            <a:r>
              <a:t>Abordar requisitos no funcionales la próxima semana: cuotas de transacciones, límites de plataforma Salesforce y límites de caché MuleSoft</a:t>
            </a:r>
          </a:p>
          <a:p/>
          <a:p>
            <a:r>
              <a:t>DIG-047</a:t>
            </a:r>
          </a:p>
          <a:p>
            <a:r>
              <a:t>Validar la mejor opción de arquitectura de punta a punta con base en todos los inputs recibidos en la primera semana</a:t>
            </a:r>
          </a:p>
          <a:p>
            <a:r>
              <a:t>Validar la mejor opción de arquitectura de punta a punta con base en todos los inputs recibidos en la primera semana</a:t>
            </a:r>
          </a:p>
          <a:p/>
          <a:p>
            <a:r>
              <a:t>DIG-053</a:t>
            </a:r>
          </a:p>
          <a:p>
            <a:r>
              <a:t>Definir los responsables de la gestión de datos de clientes, productos y facturación (propiedad de datos y ciclo de vida)</a:t>
            </a:r>
          </a:p>
          <a:p>
            <a:r>
              <a:t>Definir los responsables de la gestión de datos de clientes, productos y facturación (propiedad de datos y ciclo de vida)</a:t>
            </a:r>
          </a:p>
          <a:p/>
          <a:p>
            <a:r>
              <a:t>DIG-056</a:t>
            </a:r>
          </a:p>
          <a:p>
            <a:r>
              <a:t>Llevar a cabo sesiones con el equipo interno de Telmex para revisar la configuración del catálogo de productos</a:t>
            </a:r>
          </a:p>
          <a:p>
            <a:r>
              <a:t>Llevar a cabo sesiones con el equipo interno de Telmex para revisar la configuración del catálogo de productos</a:t>
            </a:r>
          </a:p>
          <a:p/>
          <a:p>
            <a:r>
              <a:t>DIG-057</a:t>
            </a:r>
          </a:p>
          <a:p>
            <a:r>
              <a:t>Organizar reuniones con el área de ventas para definir los procesos de creación de cuentas, gestión de prospectos y omnicanalidad</a:t>
            </a:r>
          </a:p>
          <a:p>
            <a:r>
              <a:t>Organizar reuniones con el área de ventas para definir los procesos de creación de cuentas, gestión de prospectos y omnicanalidad</a:t>
            </a:r>
          </a:p>
          <a:p/>
          <a:p>
            <a:r>
              <a:t>DIG-058</a:t>
            </a:r>
          </a:p>
          <a:p>
            <a:r>
              <a:t>Identificar las APIs necesarias para la comunicación entre los canales digitales y Salesforce</a:t>
            </a:r>
          </a:p>
          <a:p>
            <a:r>
              <a:t>Identificar las APIs necesarias para la comunicación entre los canales digitales y Salesforce</a:t>
            </a:r>
          </a:p>
          <a:p/>
          <a:p>
            <a:r>
              <a:t>DIG-062</a:t>
            </a:r>
          </a:p>
          <a:p>
            <a:r>
              <a:t>Sesión de cierre de la primera semana del proyecto — consolidación de entendimientos y definición de agenda</a:t>
            </a:r>
          </a:p>
          <a:p>
            <a:r>
              <a:t>Sesión de cierre de la primera semana del proyecto — consolidación de entendimientos y definición de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5cb8e9a6-4c4e-4e52-8931-b83c5b9ff5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01168"/>
            <a:ext cx="616263" cy="384048"/>
          </a:xfrm>
          <a:prstGeom prst="rect">
            <a:avLst/>
          </a:prstGeom>
        </p:spPr>
      </p:pic>
      <p:pic>
        <p:nvPicPr>
          <p:cNvPr id="4" name="Picture 3" descr="Salesforce_Logo-bba9d386-0b81-4089-9e14-3e1cf11a3da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37744"/>
            <a:ext cx="617728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777240"/>
            <a:ext cx="9326880" cy="5029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ctr"/>
            <a:r>
              <a:rPr sz="2800" b="1">
                <a:solidFill>
                  <a:srgbClr val="032D60"/>
                </a:solidFill>
                <a:latin typeface="Arial"/>
              </a:rPr>
              <a:t>Resumen ejecutivo · 01/10/2026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9144000" cy="457200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Catalogo   ·   Acuerdos 4   ·   Por acordar 1   ·   Acciones 5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CAT-018, CAT-019, CAT-020, CAT-021, CAT-022, CAT-023, CAT-024, CAT-025, CAT-026, CAT-027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Ventas   ·   Acuerdos 7   ·   Por acordar 4   ·   Acciones 6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VT-007, VT-019, VT-029, VT-041, VT-050, VT-051, VT-052, VT-053, VT-054, VT-055, VT-056, VT-057, VT-058, VT-059, VT-060, VT-061, VT-062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32D60"/>
                </a:solidFill>
                <a:latin typeface="Arial"/>
              </a:rPr>
              <a:t>Canales Digitales   ·   Acuerdos 5   ·   Por acordar 0   ·   Acciones 17</a:t>
            </a:r>
          </a:p>
          <a:p>
            <a:pPr>
              <a:spcBef>
                <a:spcPts val="0"/>
              </a:spcBef>
            </a:pPr>
            <a:r>
              <a:rPr sz="1100" b="0">
                <a:solidFill>
                  <a:srgbClr val="181818"/>
                </a:solidFill>
                <a:latin typeface="Arial"/>
              </a:rPr>
              <a:t>DIG-014, DIG-015, DIG-016, DIG-017, DIG-018, DIG-019, DIG-047, DIG-048, DIG-049, DIG-050, DIG-051, DIG-052, DIG-053, DIG-054, DIG-055, DIG-056, DIG-057, DIG-058, DIG-059, DIG-060, DIG-061, DIG-062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9144000" cy="118872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r>
              <a:rPr sz="1400" b="1">
                <a:solidFill>
                  <a:srgbClr val="032D60"/>
                </a:solidFill>
                <a:latin typeface="Arial"/>
              </a:rPr>
              <a:t>ASK al liderazgo de Salesforce</a:t>
            </a:r>
          </a:p>
          <a:p>
            <a:r>
              <a:rPr sz="1300" b="0">
                <a:solidFill>
                  <a:srgbClr val="181818"/>
                </a:solidFill>
                <a:latin typeface="Arial"/>
              </a:rPr>
              <a:t>Sin ASK en los registros de este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Catalogo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CAT-022 Internet Recuperado para catalogo aplican promociones (Bonificacion) similar al flujo de Portabilidad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Propuesta: El flujo de Internet Recuperado es definido por un nuevo tipo de orden, una vez que la Orden es generada, si aplican bonificaciones (Promociones) sobre los gastos de instalacion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CAT-018 Matriz de GI con parámetros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GI se define con una matriz en 3 niveles: Tipo de orden + Canal; + Compañía; + Librería. Total de instalación como componente del producto de datos.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CAT-021 Excepciones geográficas de GI (zonas de desastre)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Excepciones (ej. bonificación del 100% de GI) se manejan con el la solucion de promociones por Zona Geografica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CAT-023 Portal Único: sin productos en catálogo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No se crean productos de SVAs/Cloud en el catálogo; botón o pantalla que invoca el portal externo; resumen solo indica si el cliente accedió.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CAT-027 Confirmar formalmente la definición base de líneas adicionales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Telmex confirma el catálogo base, lineas adicionales sin costo como productos sobre la estrutura de la oferta, sin posibilidade de cambios o poratabilidad. Lineas adicionales con costo, contratacion de nueva oferta solo voz, puedes portar, incide gastos de instalacion,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CAT-024 indicador de riesgo en Big Data</a:t>
            </a:r>
            <a:r>
              <a:rPr sz="1100" b="0">
                <a:solidFill>
                  <a:srgbClr val="3E5570"/>
                </a:solidFill>
                <a:latin typeface="Arial"/>
              </a:rPr>
              <a:t>   Luis Partida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No hay relacion del pago inicial por Identificacion de riesgo con los gastos de instalación en el catalogo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CAT-026 Sesión con Paco Pérez sobre el flujo PISA</a:t>
            </a:r>
            <a:r>
              <a:rPr sz="1100" b="0">
                <a:solidFill>
                  <a:srgbClr val="3E5570"/>
                </a:solidFill>
                <a:latin typeface="Arial"/>
              </a:rPr>
              <a:t>   Paco Pérez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Validar flujo de captura y provisión de líneas adicionales.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CAT-019 Parámetro para líneas adicionales en GI</a:t>
            </a:r>
            <a:r>
              <a:rPr sz="1100" b="0">
                <a:solidFill>
                  <a:srgbClr val="3E5570"/>
                </a:solidFill>
                <a:latin typeface="Arial"/>
              </a:rPr>
              <a:t>   Gustavo Richter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Nuevo parámetro/bandera en catálogo y flujo de venta para identificar contratación de línea adicional con precio preferencial de instalación.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CAT-020 Resumen y PDF muestran solo el costo total de instalación</a:t>
            </a:r>
            <a:r>
              <a:rPr sz="1100" b="0">
                <a:solidFill>
                  <a:srgbClr val="3E5570"/>
                </a:solidFill>
                <a:latin typeface="Arial"/>
              </a:rPr>
              <a:t>   Gustavo Richter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El PDF de venta muestra únicamente el costo total de instalación.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CAT-025 Sesión cross Ventas/OM sobre reservas y decomposición</a:t>
            </a:r>
            <a:r>
              <a:rPr sz="1100" b="0">
                <a:solidFill>
                  <a:srgbClr val="3E5570"/>
                </a:solidFill>
                <a:latin typeface="Arial"/>
              </a:rPr>
              <a:t>   Gustavo Richter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Reservas de facilidades, RNUM y decomposición de Solo Voz y líneas adicionales.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Ventas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VT-019 Ciclo de Vida del Pedido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reducen las etapas del pedido y se usa un estatus único 'Cerrado', tipificado después como ganado o perdido.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VT-055 Estados de Cuenta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Definir estados de cuenta (activa, inactiva, suspendida) y si el botón 'Iniciar pedido' se bloquea o solo advierte para cuentas suspendidas o con cartera vencida (se puede vender pagando anticipo o GI).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VT-056 Timeline Omnicanal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Revisar el timeline de actividades (tareas, eventos, llamadas, correos con plantillas) para registrar el historial e incidencias omnicanal (tiendas, call center, redes sociales).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VT-057 Coliving – Migración de Datos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difiere la definición de los números de grupo hasta contar con un ejemplo de negocio claro.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VT-007 Buscador Personalizado de Clientes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El inicio de atención (cliente nuevo o activo) pasa obligatoriamente por el buscador,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VT-029 Mejoras en la Experiencia del Carrito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Evaluar como base la propuesta de carrito de Lorena Priego Blancas (costo de desarroll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VT-041 Coliving – Migración de Datos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migran solo los servicios activos (secuencia 0); se descartan los inactivos.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VT-050 UX – Vista 360, Home Ventas y Listas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desarrolla un componente Lightning custom para que toda la interfaz y etiquetas est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VT-051 UX – Vista 360, Home Ventas y Listas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Activos agrupados por suscripción (nombre del paquete concatenado, sin doble agrupació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VT-052 UX – Vista 360, Home Ventas y Listas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quita la versión para imprimir de la interfaz.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VT-053 Experiencia de Usuario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El cliente valida y acepta mediante códigos enviados de forma manual; el agente no lee […]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VT-054 Experiencia de Usuario</a:t>
            </a:r>
            <a:r>
              <a:rPr sz="1100" b="0">
                <a:solidFill>
                  <a:srgbClr val="3E5570"/>
                </a:solidFill>
                <a:latin typeface="Arial"/>
              </a:rPr>
              <a:t>   Equipo conjunto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Los mensajes de error deben indicar solo el da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VT-060 Experiencia de Usuario</a:t>
            </a:r>
            <a:r>
              <a:rPr sz="1100" b="0">
                <a:solidFill>
                  <a:srgbClr val="3E5570"/>
                </a:solidFill>
                <a:latin typeface="Arial"/>
              </a:rPr>
              <a:t>   Leandro Petri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Incorporar métricas de ventas mensuales para e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VT-062 Experiencia de Usuario</a:t>
            </a:r>
            <a:r>
              <a:rPr sz="1100" b="0">
                <a:solidFill>
                  <a:srgbClr val="3E5570"/>
                </a:solidFill>
                <a:latin typeface="Arial"/>
              </a:rPr>
              <a:t>   Por asignar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Verificar la disponibilidad de licencias y fun […]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1">
                <a:solidFill>
                  <a:srgbClr val="032D60"/>
                </a:solidFill>
                <a:latin typeface="Arial"/>
              </a:rPr>
              <a:t>Equipo conjunto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VT-058 UX – Vista 360, Home Ventas y Listas</a:t>
            </a:r>
            <a:r>
              <a:rPr sz="1100" b="0">
                <a:solidFill>
                  <a:srgbClr val="3E5570"/>
                </a:solidFill>
                <a:latin typeface="Arial"/>
              </a:rPr>
              <a:t>   Cynthia González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Agendar sesión de UX para revisar historias pe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VT-059 UX – Vista 360, Home Ventas y Listas</a:t>
            </a:r>
            <a:r>
              <a:rPr sz="1100" b="0">
                <a:solidFill>
                  <a:srgbClr val="3E5570"/>
                </a:solidFill>
                <a:latin typeface="Arial"/>
              </a:rPr>
              <a:t>   Cynthia González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Agendar sesión para revisar campo por campo la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VT-061 UX – Vista 360, Home Ventas y Listas</a:t>
            </a:r>
            <a:r>
              <a:rPr sz="1100" b="0">
                <a:solidFill>
                  <a:srgbClr val="3E5570"/>
                </a:solidFill>
                <a:latin typeface="Arial"/>
              </a:rPr>
              <a:t>   Lorena Priego Blancas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Revisar el campo orden de servicio (hoy no se […]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058400" cy="475488"/>
          </a:xfrm>
          <a:prstGeom prst="rect">
            <a:avLst/>
          </a:prstGeom>
          <a:solidFill>
            <a:srgbClr val="032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9692640" cy="384048"/>
          </a:xfrm>
          <a:prstGeom prst="rect">
            <a:avLst/>
          </a:prstGeom>
          <a:noFill/>
        </p:spPr>
        <p:txBody>
          <a:bodyPr wrap="square" lIns="54864" rIns="54864" tIns="36576" bIns="18288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Canales Digitales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32D60"/>
                </a:solidFill>
                <a:latin typeface="Arial"/>
              </a:rPr>
              <a:t>Por acordar:</a:t>
            </a:r>
          </a:p>
          <a:p>
            <a:pPr>
              <a:spcBef>
                <a:spcPts val="200"/>
              </a:spcBef>
            </a:pPr>
            <a:r>
              <a:rPr sz="900" b="0">
                <a:solidFill>
                  <a:srgbClr val="3E5570"/>
                </a:solidFill>
                <a:latin typeface="Arial"/>
              </a:rPr>
              <a:t>Sin registros en el archivo para este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32D60"/>
                </a:solidFill>
                <a:latin typeface="Arial"/>
              </a:rPr>
              <a:t>Acuerdos: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DIG-014 Domiciliación obligatoria para cerrar la venta en telmex.com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La domiciliación es un requisito obligatorio para cerrar la venta en el canal digital.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DIG-015 Renta anticipada de $400 se reubica junto a la domiciliación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El cobro de $400 de renta anticipada (actualmente en otros canales, no en telmex.com)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DIG-016 Zona geográfica se añade como filtro en el diagrama de flujo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La zona geográfica se incorpora como filtro visible en el diagrama de flujo, al igual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DIG-017 Portabilidad se agrega debajo del tipo de paquete en el diagrama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La portabilidad se mueve visualmente en el diagrama para quedar debajo de la selección […]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200" b="1">
                <a:solidFill>
                  <a:srgbClr val="181818"/>
                </a:solidFill>
                <a:latin typeface="Arial"/>
              </a:rPr>
              <a:t>✓ DIG-019 Sesión de cierre de primera semana: 02/10/2026, 11:00 AM – 1:00 PM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81818"/>
                </a:solidFill>
                <a:latin typeface="Arial"/>
              </a:rPr>
              <a:t>Se programa sesión de cierre de la primera semana del proyecto para el 02/10/2026 de 1 […]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1696" y="566928"/>
            <a:ext cx="3145536" cy="7040880"/>
          </a:xfrm>
          <a:prstGeom prst="rect">
            <a:avLst/>
          </a:prstGeom>
          <a:noFill/>
        </p:spPr>
        <p:txBody>
          <a:bodyPr wrap="square" lIns="54864" rIns="54864" tIns="36576" bIns="18288"/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032D60"/>
                </a:solidFill>
                <a:latin typeface="Arial"/>
              </a:rPr>
              <a:t>Próximos pasos: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800" b="1">
                <a:solidFill>
                  <a:srgbClr val="032D60"/>
                </a:solidFill>
                <a:latin typeface="Arial"/>
              </a:rPr>
              <a:t>Equipo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DIG-048 Añadir el filtro de zona geográfica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Telmex · 02/10/2026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DIG-049 Incluir el punto de portabilidad en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Telmex · 02/10/2026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DIG-050 Documentar y actualizar los archivos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Telmex · 06/10/2026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DIG-051 Definir el paso exacto en el flujo d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(comercial + técnico)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DIG-055 Realizar sesión de arquitectura inte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+ Liderazgo técnico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DIG-060 Consultar la oferta comercial y revi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+ Equipo catálogo Telmex · 02/10/2026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800" b="1">
                <a:solidFill>
                  <a:srgbClr val="032D60"/>
                </a:solidFill>
                <a:latin typeface="Arial"/>
              </a:rPr>
              <a:t>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DIG-018 Sesión cross interna requerida antes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Daniel Murcia · 07/10/2026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DIG-052 Resolver el mecanismo para la gestió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Daniel Murcia · 09/10/2026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DIG-054 Evaluar qué información debe consoli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(Daniel Murcia, Sebastian Garcia Rontani)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DIG-059 Configurar un entorno integral de Sa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Daniel Murcia, Sebastian Garcia Rontani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DIG-061 Abordar requisitos no funcionales la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Wantuil Firmiao, Sebastian Garcia Rontani, Daniel Murcia · 09/10/2026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800" b="1">
                <a:solidFill>
                  <a:srgbClr val="032D60"/>
                </a:solidFill>
                <a:latin typeface="Arial"/>
              </a:rPr>
              <a:t>Equipo conjunto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DIG-047 Validar la mejor opción de arquitect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(Salesforce + Telmex) · 09/10/2026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DIG-053 Definir los responsables de la gesti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(liderazgo Telmex + Salesforce)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DIG-056 Llevar a cabo sesiones con el equipo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interno Telmex + Salesforce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DIG-057 Organizar reuniones con el área de v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(Salesforce + Canales Telmex)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DIG-058 Identificar las APIs necesarias para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El grupo (Salesforce + Canales Telmex)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800" b="1">
                <a:solidFill>
                  <a:srgbClr val="181818"/>
                </a:solidFill>
                <a:latin typeface="Arial"/>
              </a:rPr>
              <a:t>✓ DIG-062 Sesión de cierre de la primera seman […]</a:t>
            </a:r>
            <a:r>
              <a:rPr sz="800" b="0">
                <a:solidFill>
                  <a:srgbClr val="3E5570"/>
                </a:solidFill>
                <a:latin typeface="Arial"/>
              </a:rPr>
              <a:t>   Equipo completo · 02/10/2026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Resumen ejecutivo 01/10/2026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