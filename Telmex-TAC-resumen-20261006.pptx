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Lst>
  <p:sldSz cx="10058400" cy="7772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RM-001</a:t>
            </a:r>
          </a:p>
          <a:p>
            <a:r>
              <a:t>Validar integración GitHub - Jira para mantener la organización y trazabilidad de los desarrollos</a:t>
            </a:r>
          </a:p>
          <a:p>
            <a:r>
              <a:t>La integración presenta mayores dificultades, según lo validado internamente con el equipo. Se envían por correo algunas opciones alternativas para seguimiento.</a:t>
            </a:r>
          </a:p>
          <a:p/>
          <a:p>
            <a:r>
              <a:t>RM-002</a:t>
            </a:r>
          </a:p>
          <a:p>
            <a:r>
              <a:t>CATDiamond - documentación</a:t>
            </a:r>
          </a:p>
          <a:p>
            <a:r>
              <a:t>Documentación enviada por correo electrónico el 5 de octubre. Por favor, confirme su recepción.</a:t>
            </a:r>
          </a:p>
          <a:p/>
          <a:p>
            <a:r>
              <a:t>RM-003</a:t>
            </a:r>
          </a:p>
          <a:p>
            <a:r>
              <a:t>Definición de baseline reconciliada</a:t>
            </a:r>
          </a:p>
          <a:p>
            <a:r>
              <a:t>Análisis en curso por parte del equipo de Salesforce. Se ha programado una sesión para mañana con el objetivo de cerrar el tema.</a:t>
            </a:r>
          </a:p>
          <a:p/>
          <a:p>
            <a:r>
              <a:t>RM-004</a:t>
            </a:r>
          </a:p>
          <a:p>
            <a:r>
              <a:t>Hotfix vs FastTrack - documentación</a:t>
            </a:r>
          </a:p>
          <a:p>
            <a:r>
              <a:t>La documentación está lista. A la espera de la aprobación de Wantuil para compartirla con el equipo de Telmex.</a:t>
            </a:r>
          </a:p>
          <a:p/>
          <a:p>
            <a:r>
              <a:t>RM-005</a:t>
            </a:r>
          </a:p>
          <a:p>
            <a:r>
              <a:t>Métricas de desempeño RM - documentación</a:t>
            </a:r>
          </a:p>
          <a:p>
            <a:r>
              <a:t>La documentación está lista. A la espera de la aprobación de Wantuil para compartirla con el equipo de Telmex.</a:t>
            </a:r>
          </a:p>
          <a:p/>
          <a:p>
            <a:r>
              <a:t>RM-007</a:t>
            </a:r>
          </a:p>
          <a:p>
            <a:r>
              <a:t>Onboarding DevOps</a:t>
            </a:r>
          </a:p>
          <a:p>
            <a:r>
              <a:t>Presentación con el equipo interno sobre los procedimientos de DevOps. La fecha se definirá una vez que se haya definido el plan de release.</a:t>
            </a:r>
          </a:p>
          <a:p/>
          <a:p>
            <a:r>
              <a:t>RM-008</a:t>
            </a:r>
          </a:p>
          <a:p>
            <a:r>
              <a:t>Accesos github</a:t>
            </a:r>
          </a:p>
          <a:p>
            <a:r>
              <a:t>Validar accesos a GitHub del equipo Telmex. Pendiente.</a:t>
            </a:r>
          </a:p>
          <a:p/>
          <a:p>
            <a:r>
              <a:t>RM-009</a:t>
            </a:r>
          </a:p>
          <a:p>
            <a:r>
              <a:t>Reset de develop a main</a:t>
            </a:r>
          </a:p>
          <a:p>
            <a:r>
              <a:t>Aguardando definición de baseline</a:t>
            </a:r>
          </a:p>
          <a:p/>
          <a:p>
            <a:r>
              <a:t>RM-010</a:t>
            </a:r>
          </a:p>
          <a:p>
            <a:r>
              <a:t>Arranque paralelo de refreshes: dev01, QA, devQA, SIT, devSIT, UAT, devUAT, capacita, fstdev, fstqa, CATDiamond y orgs de hotfix</a:t>
            </a:r>
          </a:p>
          <a:p>
            <a:r>
              <a:t>Aguardando definición de baseline</a:t>
            </a:r>
          </a:p>
          <a:p/>
          <a:p>
            <a:r>
              <a:t>RM-011</a:t>
            </a:r>
          </a:p>
          <a:p>
            <a:r>
              <a:t>Configuración pipeline Github</a:t>
            </a:r>
          </a:p>
          <a:p>
            <a:r>
              <a:t>Aguardando definición de baseline y refresh de orgs</a:t>
            </a:r>
          </a:p>
          <a:p/>
          <a:p>
            <a:r>
              <a:t>RM-012</a:t>
            </a:r>
          </a:p>
          <a:p>
            <a:r>
              <a:t>Deploy del baseline en dev01 (post-refresh)</a:t>
            </a:r>
          </a:p>
          <a:p>
            <a:r>
              <a:t>Aguardando definición de baseline</a:t>
            </a:r>
          </a:p>
          <a:p/>
          <a:p>
            <a:r>
              <a:t>RM-013</a:t>
            </a:r>
          </a:p>
          <a:p>
            <a:r>
              <a:t>Arranque del refresh de las 5 orgs de dev desde dev01</a:t>
            </a:r>
          </a:p>
          <a:p>
            <a:r>
              <a:t>Aguardando definición de baseline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ARQ-03</a:t>
            </a:r>
          </a:p>
          <a:p>
            <a:r>
              <a:t>Entregar estructura comercial por empresa</a:t>
            </a:r>
          </a:p>
          <a:p>
            <a:r>
              <a:t>Telmex entrega la estructura comercial separada por Telmex y Telnor: zonas, tiendas, gerentes de zona y supervisores.</a:t>
            </a:r>
          </a:p>
          <a:p/>
          <a:p>
            <a:r>
              <a:t>ARQ-08</a:t>
            </a:r>
          </a:p>
          <a:p>
            <a:r>
              <a:t>Habilitar accesos y licencias de GitHub y ADP</a:t>
            </a:r>
          </a:p>
          <a:p>
            <a:r>
              <a:t>Salesforce habilita la organización y el repositorio de GitHub, la metodología de ADP y los usuarios de cada squad.</a:t>
            </a:r>
          </a:p>
          <a:p/>
          <a:p>
            <a:r>
              <a:t>ARQ-09</a:t>
            </a:r>
          </a:p>
          <a:p>
            <a:r>
              <a:t>Confirmar ambientes disponibles</a:t>
            </a:r>
          </a:p>
          <a:p>
            <a:r>
              <a:t>Salesforce confirma los sandboxes disponibles para desarrollo, integración, SIT y UAT, con sus fechas de refresh.</a:t>
            </a:r>
          </a:p>
          <a:p/>
          <a:p>
            <a:r>
              <a:t>ARQ-11</a:t>
            </a:r>
          </a:p>
          <a:p>
            <a:r>
              <a:t>Validar modelo de cuentas con POs de Telmex / Resto de equipo Salesforce</a:t>
            </a:r>
          </a:p>
          <a:p>
            <a:r>
              <a:t>Los POs de Residencial y Pyme validan el modelo de cuentas propuesto.</a:t>
            </a:r>
          </a:p>
          <a:p/>
          <a:p>
            <a:r>
              <a:t>ARQ-02</a:t>
            </a:r>
          </a:p>
          <a:p>
            <a:r>
              <a:t>Análisis de impacto en el modelo de seguridad (Telmex / Telnor)</a:t>
            </a:r>
          </a:p>
          <a:p>
            <a:r>
              <a:t>Analizar el impacto de la separación en visibilidad de registros, jerarquía de roles, reglas de compartición, perfiles y permission sets, colas y canales. Proponer el mecanismo de segregación (rama de roles por empresa, restriction rules, campo de empresa en Cuenta y Orden) para aprobación en Design Authority.</a:t>
            </a:r>
          </a:p>
          <a:p/>
          <a:p>
            <a:r>
              <a:t>ARQ-04</a:t>
            </a:r>
          </a:p>
          <a:p>
            <a:r>
              <a:t>Implementación base del modelo de seguridad</a:t>
            </a:r>
          </a:p>
          <a:p>
            <a:r>
              <a:t>Configurar el modelo de seguridad aprobado: roles, permission sets por persona, OWD y sharing, segregación por empresa. Ejecutar pruebas de visibilidad por perfil y empresa.</a:t>
            </a:r>
          </a:p>
          <a:p/>
          <a:p>
            <a:r>
              <a:t>ARQ-05</a:t>
            </a:r>
          </a:p>
          <a:p>
            <a:r>
              <a:t>Definir línea base de desarrollo</a:t>
            </a:r>
          </a:p>
          <a:p>
            <a:r>
              <a:t>Definir el punto de partida común para todos los squads: rama principal con la metadata base (incluidos los componentes recuperados de R2), ambientes de desarrollo alineados y estructura de repositorio y paquetes.</a:t>
            </a:r>
          </a:p>
          <a:p/>
          <a:p>
            <a:r>
              <a:t>ARQ-06</a:t>
            </a:r>
          </a:p>
          <a:p>
            <a:r>
              <a:t>Cerrar matriz de recuperación de componentes R2</a:t>
            </a:r>
          </a:p>
          <a:p>
            <a:r>
              <a:t>A partir del análisis de ramas existente, definir qué componentes de R2 se recuperan, se refactorizan, se usan como referencia o se descartan.</a:t>
            </a:r>
          </a:p>
          <a:p/>
          <a:p>
            <a:r>
              <a:t>ARQ-07</a:t>
            </a:r>
          </a:p>
          <a:p>
            <a:r>
              <a:t>Definir estrategia de uso de ADP con GitHub</a:t>
            </a:r>
          </a:p>
          <a:p>
            <a:r>
              <a:t>Definir modelo de ramas (ramas por Release A y B, feature branches), pipeline de ambientes (Dev, Integración, SIT, UAT, Producción), reglas de pull request y revisión, validaciones automáticas (code analyzer, pruebas Apex) y responsables de cada promoción. Publicar guía de uso para los squads.</a:t>
            </a:r>
          </a:p>
          <a:p/>
          <a:p>
            <a:r>
              <a:t>ARQ-10</a:t>
            </a:r>
          </a:p>
          <a:p>
            <a:r>
              <a:t>Definir modelo de cuentas definitivo</a:t>
            </a:r>
          </a:p>
          <a:p>
            <a:r>
              <a:t>Definir el modelo final de cuentas y contactos: Residencial vs. Pyme, jerarquía cliente / facturación / servicio, Person Account o Business Account, roles de contacto (Representante Legal, Domiciliación, Contacto técnico) y marca de empresa Telmex / Telnor. Aprobar en Design Authority.</a:t>
            </a:r>
          </a:p>
          <a:p/>
          <a:p>
            <a:r>
              <a:t>ARQ-12</a:t>
            </a:r>
          </a:p>
          <a:p>
            <a:r>
              <a:t>Definir tratamiento de deuda técnica</a:t>
            </a:r>
          </a:p>
          <a:p>
            <a:r>
              <a:t>Levantar el inventario inicial de deuda técnica (R2 y análisis de ramas), clasificarlo por impacto y definir la política: qué se resuelve antes de Release A, qué en Release B y qué se acepta.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058400" cy="7772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5cb8e9a6-4c4e-4e52-8931-b83c5b9ff52e.png"/>
          <p:cNvPicPr>
            <a:picLocks noChangeAspect="1"/>
          </p:cNvPicPr>
          <p:nvPr/>
        </p:nvPicPr>
        <p:blipFill>
          <a:blip r:embed="rId2"/>
          <a:stretch>
            <a:fillRect/>
          </a:stretch>
        </p:blipFill>
        <p:spPr>
          <a:xfrm>
            <a:off x="347472" y="201168"/>
            <a:ext cx="616263" cy="384048"/>
          </a:xfrm>
          <a:prstGeom prst="rect">
            <a:avLst/>
          </a:prstGeom>
        </p:spPr>
      </p:pic>
      <p:pic>
        <p:nvPicPr>
          <p:cNvPr id="4" name="Picture 3" descr="Salesforce_Logo-bba9d386-0b81-4089-9e14-3e1cf11a3da7.jpg"/>
          <p:cNvPicPr>
            <a:picLocks noChangeAspect="1"/>
          </p:cNvPicPr>
          <p:nvPr/>
        </p:nvPicPr>
        <p:blipFill>
          <a:blip r:embed="rId3"/>
          <a:stretch>
            <a:fillRect/>
          </a:stretch>
        </p:blipFill>
        <p:spPr>
          <a:xfrm>
            <a:off x="7818120" y="237744"/>
            <a:ext cx="617728" cy="347472"/>
          </a:xfrm>
          <a:prstGeom prst="rect">
            <a:avLst/>
          </a:prstGeom>
        </p:spPr>
      </p:pic>
      <p:sp>
        <p:nvSpPr>
          <p:cNvPr id="5" name="TextBox 4"/>
          <p:cNvSpPr txBox="1"/>
          <p:nvPr/>
        </p:nvSpPr>
        <p:spPr>
          <a:xfrm>
            <a:off x="365760" y="777240"/>
            <a:ext cx="9326880" cy="502920"/>
          </a:xfrm>
          <a:prstGeom prst="rect">
            <a:avLst/>
          </a:prstGeom>
          <a:noFill/>
        </p:spPr>
        <p:txBody>
          <a:bodyPr wrap="square" lIns="54864" rIns="54864" tIns="36576" bIns="18288"/>
          <a:lstStyle/>
          <a:p>
            <a:pPr algn="ctr"/>
            <a:r>
              <a:rPr sz="2800" b="1">
                <a:solidFill>
                  <a:srgbClr val="032D60"/>
                </a:solidFill>
                <a:latin typeface="Arial"/>
              </a:rPr>
              <a:t>Resumen ejecutivo · 06/10/2026</a:t>
            </a:r>
          </a:p>
        </p:txBody>
      </p:sp>
      <p:sp>
        <p:nvSpPr>
          <p:cNvPr id="6" name="TextBox 5"/>
          <p:cNvSpPr txBox="1"/>
          <p:nvPr/>
        </p:nvSpPr>
        <p:spPr>
          <a:xfrm>
            <a:off x="457200" y="1417320"/>
            <a:ext cx="9144000" cy="4572000"/>
          </a:xfrm>
          <a:prstGeom prst="rect">
            <a:avLst/>
          </a:prstGeom>
          <a:noFill/>
        </p:spPr>
        <p:txBody>
          <a:bodyPr wrap="square" lIns="54864" rIns="54864" tIns="36576" bIns="18288"/>
          <a:lstStyle/>
          <a:p>
            <a:pPr>
              <a:spcBef>
                <a:spcPts val="800"/>
              </a:spcBef>
            </a:pPr>
            <a:r>
              <a:rPr sz="1400" b="1">
                <a:solidFill>
                  <a:srgbClr val="032D60"/>
                </a:solidFill>
                <a:latin typeface="Arial"/>
              </a:rPr>
              <a:t>Ventas   ·   Acuerdos 3   ·   Por acordar 2   ·   Acciones 3</a:t>
            </a:r>
          </a:p>
          <a:p>
            <a:pPr>
              <a:spcBef>
                <a:spcPts val="0"/>
              </a:spcBef>
            </a:pPr>
            <a:r>
              <a:rPr sz="1100" b="0">
                <a:solidFill>
                  <a:srgbClr val="181818"/>
                </a:solidFill>
                <a:latin typeface="Arial"/>
              </a:rPr>
              <a:t>VT-068, VT-069, VT-070, VT-071, VT-072, VT-073, VT-074, VT-075</a:t>
            </a:r>
          </a:p>
          <a:p>
            <a:pPr>
              <a:spcBef>
                <a:spcPts val="800"/>
              </a:spcBef>
            </a:pPr>
            <a:r>
              <a:rPr sz="1400" b="1">
                <a:solidFill>
                  <a:srgbClr val="032D60"/>
                </a:solidFill>
                <a:latin typeface="Arial"/>
              </a:rPr>
              <a:t>Posventas   ·   Acuerdos 0   ·   Por acordar 0   ·   Acciones 1</a:t>
            </a:r>
          </a:p>
          <a:p>
            <a:pPr>
              <a:spcBef>
                <a:spcPts val="0"/>
              </a:spcBef>
            </a:pPr>
            <a:r>
              <a:rPr sz="1100" b="0">
                <a:solidFill>
                  <a:srgbClr val="181818"/>
                </a:solidFill>
                <a:latin typeface="Arial"/>
              </a:rPr>
              <a:t>PV-001</a:t>
            </a:r>
          </a:p>
          <a:p>
            <a:pPr>
              <a:spcBef>
                <a:spcPts val="800"/>
              </a:spcBef>
            </a:pPr>
            <a:r>
              <a:rPr sz="1400" b="1">
                <a:solidFill>
                  <a:srgbClr val="032D60"/>
                </a:solidFill>
                <a:latin typeface="Arial"/>
              </a:rPr>
              <a:t>RM   ·   Acuerdos 0   ·   Por acordar 0   ·   Acciones 13</a:t>
            </a:r>
          </a:p>
          <a:p>
            <a:pPr>
              <a:spcBef>
                <a:spcPts val="0"/>
              </a:spcBef>
            </a:pPr>
            <a:r>
              <a:rPr sz="1100" b="0">
                <a:solidFill>
                  <a:srgbClr val="181818"/>
                </a:solidFill>
                <a:latin typeface="Arial"/>
              </a:rPr>
              <a:t>RM-001, RM-002, RM-003, RM-004, RM-005, RM-006, RM-007, RM-008, RM-009, RM-010, RM-011, RM-012, RM-013</a:t>
            </a:r>
          </a:p>
          <a:p>
            <a:pPr>
              <a:spcBef>
                <a:spcPts val="800"/>
              </a:spcBef>
            </a:pPr>
            <a:r>
              <a:rPr sz="1400" b="1">
                <a:solidFill>
                  <a:srgbClr val="032D60"/>
                </a:solidFill>
                <a:latin typeface="Arial"/>
              </a:rPr>
              <a:t>Cross   ·   Acuerdos 0   ·   Por acordar 0   ·   Acciones 11</a:t>
            </a:r>
          </a:p>
          <a:p>
            <a:pPr>
              <a:spcBef>
                <a:spcPts val="0"/>
              </a:spcBef>
            </a:pPr>
            <a:r>
              <a:rPr sz="1100" b="0">
                <a:solidFill>
                  <a:srgbClr val="181818"/>
                </a:solidFill>
                <a:latin typeface="Arial"/>
              </a:rPr>
              <a:t>ARQ-02, ARQ-03, ARQ-04, ARQ-05, ARQ-06, ARQ-07, ARQ-08, ARQ-09, ARQ-10, ARQ-11, ARQ-12</a:t>
            </a:r>
          </a:p>
        </p:txBody>
      </p:sp>
      <p:sp>
        <p:nvSpPr>
          <p:cNvPr id="7" name="TextBox 6"/>
          <p:cNvSpPr txBox="1"/>
          <p:nvPr/>
        </p:nvSpPr>
        <p:spPr>
          <a:xfrm>
            <a:off x="457200" y="6263640"/>
            <a:ext cx="9144000" cy="1188720"/>
          </a:xfrm>
          <a:prstGeom prst="rect">
            <a:avLst/>
          </a:prstGeom>
          <a:noFill/>
        </p:spPr>
        <p:txBody>
          <a:bodyPr wrap="square" lIns="54864" rIns="54864" tIns="36576" bIns="18288"/>
          <a:lstStyle/>
          <a:p>
            <a:r>
              <a:rPr sz="1400" b="1">
                <a:solidFill>
                  <a:srgbClr val="032D60"/>
                </a:solidFill>
                <a:latin typeface="Arial"/>
              </a:rPr>
              <a:t>ASK al liderazgo de Salesforce</a:t>
            </a:r>
          </a:p>
          <a:p>
            <a:r>
              <a:rPr sz="1300" b="0">
                <a:solidFill>
                  <a:srgbClr val="181818"/>
                </a:solidFill>
                <a:latin typeface="Arial"/>
              </a:rPr>
              <a:t>Sin ASK en los registros de este día.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058400" cy="7772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058400" cy="475488"/>
          </a:xfrm>
          <a:prstGeom prst="rect">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45720"/>
            <a:ext cx="9692640" cy="384048"/>
          </a:xfrm>
          <a:prstGeom prst="rect">
            <a:avLst/>
          </a:prstGeom>
          <a:noFill/>
        </p:spPr>
        <p:txBody>
          <a:bodyPr wrap="square" lIns="54864" rIns="54864" tIns="36576" bIns="18288" anchor="ctr"/>
          <a:lstStyle/>
          <a:p>
            <a:pPr algn="ctr"/>
            <a:r>
              <a:rPr sz="2200" b="1">
                <a:solidFill>
                  <a:srgbClr val="FFFFFF"/>
                </a:solidFill>
                <a:latin typeface="Arial"/>
              </a:rPr>
              <a:t>Ventas</a:t>
            </a:r>
          </a:p>
        </p:txBody>
      </p:sp>
      <p:sp>
        <p:nvSpPr>
          <p:cNvPr id="5" name="TextBox 4"/>
          <p:cNvSpPr txBox="1"/>
          <p:nvPr/>
        </p:nvSpPr>
        <p:spPr>
          <a:xfrm>
            <a:off x="201168" y="566928"/>
            <a:ext cx="3145536" cy="7040880"/>
          </a:xfrm>
          <a:prstGeom prst="rect">
            <a:avLst/>
          </a:prstGeom>
          <a:noFill/>
        </p:spPr>
        <p:txBody>
          <a:bodyPr wrap="square" lIns="54864" rIns="54864" tIns="36576" bIns="18288"/>
          <a:lstStyle/>
          <a:p>
            <a:pPr algn="l">
              <a:spcAft>
                <a:spcPts val="400"/>
              </a:spcAft>
            </a:pPr>
            <a:r>
              <a:rPr sz="1400" b="1">
                <a:solidFill>
                  <a:srgbClr val="032D60"/>
                </a:solidFill>
                <a:latin typeface="Arial"/>
              </a:rPr>
              <a:t>Por acordar:</a:t>
            </a:r>
          </a:p>
          <a:p>
            <a:pPr>
              <a:spcBef>
                <a:spcPts val="200"/>
              </a:spcBef>
              <a:spcAft>
                <a:spcPts val="0"/>
              </a:spcAft>
            </a:pPr>
            <a:r>
              <a:rPr sz="1200" b="1">
                <a:solidFill>
                  <a:srgbClr val="181818"/>
                </a:solidFill>
                <a:latin typeface="Arial"/>
              </a:rPr>
              <a:t>✓ VT-071 Gestión de Leads – Creación Prospecto</a:t>
            </a:r>
          </a:p>
          <a:p>
            <a:pPr>
              <a:spcBef>
                <a:spcPts val="0"/>
              </a:spcBef>
              <a:spcAft>
                <a:spcPts val="0"/>
              </a:spcAft>
            </a:pPr>
            <a:r>
              <a:rPr sz="1100" b="0">
                <a:solidFill>
                  <a:srgbClr val="181818"/>
                </a:solidFill>
                <a:latin typeface="Arial"/>
              </a:rPr>
              <a:t>Definir si la CURP/RFC se exige al crear el prospecto (evita duplicados y datos basura) o al convertirlo (permite cargar bases externas sin bloqueo). Definir también la mecánica entre el anfitrión que registra datos iniciales y el agente comercial que convierte.</a:t>
            </a:r>
          </a:p>
          <a:p>
            <a:pPr>
              <a:spcBef>
                <a:spcPts val="200"/>
              </a:spcBef>
              <a:spcAft>
                <a:spcPts val="0"/>
              </a:spcAft>
            </a:pPr>
            <a:r>
              <a:rPr sz="1200" b="1">
                <a:solidFill>
                  <a:srgbClr val="181818"/>
                </a:solidFill>
                <a:latin typeface="Arial"/>
              </a:rPr>
              <a:t>✓ VT-075 Alta de Clientes (Cuenta) – Duplicidad y Modelo de Cuentas</a:t>
            </a:r>
          </a:p>
          <a:p>
            <a:pPr>
              <a:spcBef>
                <a:spcPts val="0"/>
              </a:spcBef>
              <a:spcAft>
                <a:spcPts val="0"/>
              </a:spcAft>
            </a:pPr>
            <a:r>
              <a:rPr sz="1100" b="0">
                <a:solidFill>
                  <a:srgbClr val="181818"/>
                </a:solidFill>
                <a:latin typeface="Arial"/>
              </a:rPr>
              <a:t>Propuesta: cuentas residenciales y de persona moral separadas pero relacionadas mediante el contacto (representante legal/apoderado), para que el ejecutivo vea todas las cuentas de una persona a partir de su CURP.</a:t>
            </a:r>
          </a:p>
        </p:txBody>
      </p:sp>
      <p:sp>
        <p:nvSpPr>
          <p:cNvPr id="6" name="TextBox 5"/>
          <p:cNvSpPr txBox="1"/>
          <p:nvPr/>
        </p:nvSpPr>
        <p:spPr>
          <a:xfrm>
            <a:off x="3456432" y="566928"/>
            <a:ext cx="3145536" cy="7040880"/>
          </a:xfrm>
          <a:prstGeom prst="rect">
            <a:avLst/>
          </a:prstGeom>
          <a:noFill/>
        </p:spPr>
        <p:txBody>
          <a:bodyPr wrap="square" lIns="54864" rIns="54864" tIns="36576" bIns="18288"/>
          <a:lstStyle/>
          <a:p>
            <a:pPr algn="l">
              <a:spcAft>
                <a:spcPts val="400"/>
              </a:spcAft>
            </a:pPr>
            <a:r>
              <a:rPr sz="1400" b="1">
                <a:solidFill>
                  <a:srgbClr val="032D60"/>
                </a:solidFill>
                <a:latin typeface="Arial"/>
              </a:rPr>
              <a:t>Acuerdos:</a:t>
            </a:r>
          </a:p>
          <a:p>
            <a:pPr>
              <a:spcBef>
                <a:spcPts val="200"/>
              </a:spcBef>
              <a:spcAft>
                <a:spcPts val="0"/>
              </a:spcAft>
            </a:pPr>
            <a:r>
              <a:rPr sz="1200" b="1">
                <a:solidFill>
                  <a:srgbClr val="181818"/>
                </a:solidFill>
                <a:latin typeface="Arial"/>
              </a:rPr>
              <a:t>✓ VT-068 Alta de Clientes (Cuenta) – Duplicidad y Modelo de Cuentas</a:t>
            </a:r>
          </a:p>
          <a:p>
            <a:pPr>
              <a:spcBef>
                <a:spcPts val="0"/>
              </a:spcBef>
              <a:spcAft>
                <a:spcPts val="0"/>
              </a:spcAft>
            </a:pPr>
            <a:r>
              <a:rPr sz="1100" b="0">
                <a:solidFill>
                  <a:srgbClr val="181818"/>
                </a:solidFill>
                <a:latin typeface="Arial"/>
              </a:rPr>
              <a:t>La CURP es obligatoria en todos los casos a nivel Contacto y es el identificador único de la persona. El RFC diferencia cada cuenta de persona moral (no se repiten RFCs). No existen RFC genéricos para personas morales.</a:t>
            </a:r>
          </a:p>
          <a:p>
            <a:pPr>
              <a:spcBef>
                <a:spcPts val="200"/>
              </a:spcBef>
              <a:spcAft>
                <a:spcPts val="0"/>
              </a:spcAft>
            </a:pPr>
            <a:r>
              <a:rPr sz="1200" b="1">
                <a:solidFill>
                  <a:srgbClr val="181818"/>
                </a:solidFill>
                <a:latin typeface="Arial"/>
              </a:rPr>
              <a:t>✓ VT-069 Validación de Identidad</a:t>
            </a:r>
          </a:p>
          <a:p>
            <a:pPr>
              <a:spcBef>
                <a:spcPts val="0"/>
              </a:spcBef>
              <a:spcAft>
                <a:spcPts val="0"/>
              </a:spcAft>
            </a:pPr>
            <a:r>
              <a:rPr sz="1100" b="0">
                <a:solidFill>
                  <a:srgbClr val="181818"/>
                </a:solidFill>
                <a:latin typeface="Arial"/>
              </a:rPr>
              <a:t>La CURP es la llave para obtener el nombre (residencial y pyme persona física). El RFC recupera la razón social del SAT (persona moral). El nombre comercial es un campo distinto, editable y no validado contra fuente oficial.</a:t>
            </a:r>
          </a:p>
          <a:p>
            <a:pPr>
              <a:spcBef>
                <a:spcPts val="200"/>
              </a:spcBef>
              <a:spcAft>
                <a:spcPts val="0"/>
              </a:spcAft>
            </a:pPr>
            <a:r>
              <a:rPr sz="1200" b="1">
                <a:solidFill>
                  <a:srgbClr val="181818"/>
                </a:solidFill>
                <a:latin typeface="Arial"/>
              </a:rPr>
              <a:t>✓ VT-070 Datos de Facturación</a:t>
            </a:r>
          </a:p>
          <a:p>
            <a:pPr>
              <a:spcBef>
                <a:spcPts val="0"/>
              </a:spcBef>
              <a:spcAft>
                <a:spcPts val="0"/>
              </a:spcAft>
            </a:pPr>
            <a:r>
              <a:rPr sz="1100" b="0">
                <a:solidFill>
                  <a:srgbClr val="181818"/>
                </a:solidFill>
                <a:latin typeface="Arial"/>
              </a:rPr>
              <a:t>Los datos fiscales (incluido el CP fiscal) se usan solo para el timbrado con SAP. La dirección de facturación queda separada para la entrega del recibo. El correo es clave para paperless (avisos por correo o WhatsApp).</a:t>
            </a:r>
          </a:p>
        </p:txBody>
      </p:sp>
      <p:sp>
        <p:nvSpPr>
          <p:cNvPr id="7" name="TextBox 6"/>
          <p:cNvSpPr txBox="1"/>
          <p:nvPr/>
        </p:nvSpPr>
        <p:spPr>
          <a:xfrm>
            <a:off x="6711696" y="566928"/>
            <a:ext cx="3145536" cy="7040880"/>
          </a:xfrm>
          <a:prstGeom prst="rect">
            <a:avLst/>
          </a:prstGeom>
          <a:noFill/>
        </p:spPr>
        <p:txBody>
          <a:bodyPr wrap="square" lIns="54864" rIns="54864" tIns="36576" bIns="18288"/>
          <a:lstStyle/>
          <a:p>
            <a:pPr algn="l">
              <a:spcAft>
                <a:spcPts val="400"/>
              </a:spcAft>
            </a:pPr>
            <a:r>
              <a:rPr sz="1400" b="1">
                <a:solidFill>
                  <a:srgbClr val="032D60"/>
                </a:solidFill>
                <a:latin typeface="Arial"/>
              </a:rPr>
              <a:t>Próximos pasos:</a:t>
            </a:r>
          </a:p>
          <a:p>
            <a:pPr>
              <a:spcBef>
                <a:spcPts val="200"/>
              </a:spcBef>
              <a:spcAft>
                <a:spcPts val="100"/>
              </a:spcAft>
            </a:pPr>
            <a:r>
              <a:rPr sz="1200" b="1">
                <a:solidFill>
                  <a:srgbClr val="032D60"/>
                </a:solidFill>
                <a:latin typeface="Arial"/>
              </a:rPr>
              <a:t>Equipo</a:t>
            </a:r>
          </a:p>
          <a:p>
            <a:pPr>
              <a:spcBef>
                <a:spcPts val="200"/>
              </a:spcBef>
              <a:spcAft>
                <a:spcPts val="0"/>
              </a:spcAft>
            </a:pPr>
            <a:r>
              <a:rPr sz="1200" b="1">
                <a:solidFill>
                  <a:srgbClr val="181818"/>
                </a:solidFill>
                <a:latin typeface="Arial"/>
              </a:rPr>
              <a:t>✓ VT-073 Validación de Identidad</a:t>
            </a:r>
            <a:r>
              <a:rPr sz="1100" b="0">
                <a:solidFill>
                  <a:srgbClr val="3E5570"/>
                </a:solidFill>
                <a:latin typeface="Arial"/>
              </a:rPr>
              <a:t>   Por asignar</a:t>
            </a:r>
          </a:p>
          <a:p>
            <a:pPr>
              <a:spcBef>
                <a:spcPts val="0"/>
              </a:spcBef>
              <a:spcAft>
                <a:spcPts val="0"/>
              </a:spcAft>
            </a:pPr>
            <a:r>
              <a:rPr sz="1100" b="0">
                <a:solidFill>
                  <a:srgbClr val="181818"/>
                </a:solidFill>
                <a:latin typeface="Arial"/>
              </a:rPr>
              <a:t>Confirmar con los líderes técnicos qué datos adicionales al nombre (fecha y lugar de nacimiento) recuperan los fronts digitales en la validación CURP.</a:t>
            </a:r>
          </a:p>
          <a:p>
            <a:pPr>
              <a:spcBef>
                <a:spcPts val="200"/>
              </a:spcBef>
              <a:spcAft>
                <a:spcPts val="0"/>
              </a:spcAft>
            </a:pPr>
            <a:r>
              <a:rPr sz="1200" b="1">
                <a:solidFill>
                  <a:srgbClr val="181818"/>
                </a:solidFill>
                <a:latin typeface="Arial"/>
              </a:rPr>
              <a:t>✓ VT-074 MACD – Actualización de Datos (Contacto / Fiscales)</a:t>
            </a:r>
            <a:r>
              <a:rPr sz="1100" b="0">
                <a:solidFill>
                  <a:srgbClr val="3E5570"/>
                </a:solidFill>
                <a:latin typeface="Arial"/>
              </a:rPr>
              <a:t>   Por asignar</a:t>
            </a:r>
          </a:p>
          <a:p>
            <a:pPr>
              <a:spcBef>
                <a:spcPts val="0"/>
              </a:spcBef>
              <a:spcAft>
                <a:spcPts val="0"/>
              </a:spcAft>
            </a:pPr>
            <a:r>
              <a:rPr sz="1100" b="0">
                <a:solidFill>
                  <a:srgbClr val="181818"/>
                </a:solidFill>
                <a:latin typeface="Arial"/>
              </a:rPr>
              <a:t>Definir con el equipo de postventa un microproceso de verificación de CURP antes de iniciar cualquier gestión de postventa (apoya la normalización de migrados).</a:t>
            </a:r>
          </a:p>
          <a:p>
            <a:pPr>
              <a:spcBef>
                <a:spcPts val="500"/>
              </a:spcBef>
              <a:spcAft>
                <a:spcPts val="100"/>
              </a:spcAft>
            </a:pPr>
            <a:r>
              <a:rPr sz="1200" b="1">
                <a:solidFill>
                  <a:srgbClr val="032D60"/>
                </a:solidFill>
                <a:latin typeface="Arial"/>
              </a:rPr>
              <a:t>Salesforce</a:t>
            </a:r>
          </a:p>
          <a:p>
            <a:pPr>
              <a:spcBef>
                <a:spcPts val="200"/>
              </a:spcBef>
              <a:spcAft>
                <a:spcPts val="0"/>
              </a:spcAft>
            </a:pPr>
            <a:r>
              <a:rPr sz="1200" b="1">
                <a:solidFill>
                  <a:srgbClr val="181818"/>
                </a:solidFill>
                <a:latin typeface="Arial"/>
              </a:rPr>
              <a:t>✓ VT-072 Validación de Identidad</a:t>
            </a:r>
            <a:r>
              <a:rPr sz="1100" b="0">
                <a:solidFill>
                  <a:srgbClr val="3E5570"/>
                </a:solidFill>
                <a:latin typeface="Arial"/>
              </a:rPr>
              <a:t>   Equipo conjunto</a:t>
            </a:r>
          </a:p>
          <a:p>
            <a:pPr>
              <a:spcBef>
                <a:spcPts val="0"/>
              </a:spcBef>
              <a:spcAft>
                <a:spcPts val="0"/>
              </a:spcAft>
            </a:pPr>
            <a:r>
              <a:rPr sz="1100" b="0">
                <a:solidFill>
                  <a:srgbClr val="181818"/>
                </a:solidFill>
                <a:latin typeface="Arial"/>
              </a:rPr>
              <a:t>Guardar solo el indicador de mayoría de edad que devuelve la integración de CURP, en lugar de guardar la fecha de nacimiento.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058400" cy="7772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058400" cy="475488"/>
          </a:xfrm>
          <a:prstGeom prst="rect">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45720"/>
            <a:ext cx="9692640" cy="384048"/>
          </a:xfrm>
          <a:prstGeom prst="rect">
            <a:avLst/>
          </a:prstGeom>
          <a:noFill/>
        </p:spPr>
        <p:txBody>
          <a:bodyPr wrap="square" lIns="54864" rIns="54864" tIns="36576" bIns="18288" anchor="ctr"/>
          <a:lstStyle/>
          <a:p>
            <a:pPr algn="ctr"/>
            <a:r>
              <a:rPr sz="2200" b="1">
                <a:solidFill>
                  <a:srgbClr val="FFFFFF"/>
                </a:solidFill>
                <a:latin typeface="Arial"/>
              </a:rPr>
              <a:t>Posventas</a:t>
            </a:r>
          </a:p>
        </p:txBody>
      </p:sp>
      <p:sp>
        <p:nvSpPr>
          <p:cNvPr id="5" name="TextBox 4"/>
          <p:cNvSpPr txBox="1"/>
          <p:nvPr/>
        </p:nvSpPr>
        <p:spPr>
          <a:xfrm>
            <a:off x="201168" y="566928"/>
            <a:ext cx="3145536" cy="7040880"/>
          </a:xfrm>
          <a:prstGeom prst="rect">
            <a:avLst/>
          </a:prstGeom>
          <a:noFill/>
        </p:spPr>
        <p:txBody>
          <a:bodyPr wrap="square" lIns="54864" rIns="54864" tIns="36576" bIns="18288"/>
          <a:lstStyle/>
          <a:p>
            <a:pPr algn="l">
              <a:spcAft>
                <a:spcPts val="400"/>
              </a:spcAft>
            </a:pPr>
            <a:r>
              <a:rPr sz="1400" b="1">
                <a:solidFill>
                  <a:srgbClr val="032D60"/>
                </a:solidFill>
                <a:latin typeface="Arial"/>
              </a:rPr>
              <a:t>Por acordar:</a:t>
            </a:r>
          </a:p>
          <a:p>
            <a:pPr>
              <a:spcBef>
                <a:spcPts val="200"/>
              </a:spcBef>
            </a:pPr>
            <a:r>
              <a:rPr sz="1200" b="0">
                <a:solidFill>
                  <a:srgbClr val="3E5570"/>
                </a:solidFill>
                <a:latin typeface="Arial"/>
              </a:rPr>
              <a:t>Sin registros en el archivo para este día.</a:t>
            </a:r>
          </a:p>
        </p:txBody>
      </p:sp>
      <p:sp>
        <p:nvSpPr>
          <p:cNvPr id="6" name="TextBox 5"/>
          <p:cNvSpPr txBox="1"/>
          <p:nvPr/>
        </p:nvSpPr>
        <p:spPr>
          <a:xfrm>
            <a:off x="3456432" y="566928"/>
            <a:ext cx="3145536" cy="7040880"/>
          </a:xfrm>
          <a:prstGeom prst="rect">
            <a:avLst/>
          </a:prstGeom>
          <a:noFill/>
        </p:spPr>
        <p:txBody>
          <a:bodyPr wrap="square" lIns="54864" rIns="54864" tIns="36576" bIns="18288"/>
          <a:lstStyle/>
          <a:p>
            <a:pPr algn="l">
              <a:spcAft>
                <a:spcPts val="400"/>
              </a:spcAft>
            </a:pPr>
            <a:r>
              <a:rPr sz="1400" b="1">
                <a:solidFill>
                  <a:srgbClr val="032D60"/>
                </a:solidFill>
                <a:latin typeface="Arial"/>
              </a:rPr>
              <a:t>Acuerdos:</a:t>
            </a:r>
          </a:p>
          <a:p>
            <a:pPr>
              <a:spcBef>
                <a:spcPts val="200"/>
              </a:spcBef>
            </a:pPr>
            <a:r>
              <a:rPr sz="1200" b="0">
                <a:solidFill>
                  <a:srgbClr val="3E5570"/>
                </a:solidFill>
                <a:latin typeface="Arial"/>
              </a:rPr>
              <a:t>Sin registros en el archivo para este día.</a:t>
            </a:r>
          </a:p>
        </p:txBody>
      </p:sp>
      <p:sp>
        <p:nvSpPr>
          <p:cNvPr id="7" name="TextBox 6"/>
          <p:cNvSpPr txBox="1"/>
          <p:nvPr/>
        </p:nvSpPr>
        <p:spPr>
          <a:xfrm>
            <a:off x="6711696" y="566928"/>
            <a:ext cx="3145536" cy="7040880"/>
          </a:xfrm>
          <a:prstGeom prst="rect">
            <a:avLst/>
          </a:prstGeom>
          <a:noFill/>
        </p:spPr>
        <p:txBody>
          <a:bodyPr wrap="square" lIns="54864" rIns="54864" tIns="36576" bIns="18288"/>
          <a:lstStyle/>
          <a:p>
            <a:pPr algn="l">
              <a:spcAft>
                <a:spcPts val="400"/>
              </a:spcAft>
            </a:pPr>
            <a:r>
              <a:rPr sz="1400" b="1">
                <a:solidFill>
                  <a:srgbClr val="032D60"/>
                </a:solidFill>
                <a:latin typeface="Arial"/>
              </a:rPr>
              <a:t>Próximos pasos:</a:t>
            </a:r>
          </a:p>
          <a:p>
            <a:pPr>
              <a:spcBef>
                <a:spcPts val="200"/>
              </a:spcBef>
              <a:spcAft>
                <a:spcPts val="100"/>
              </a:spcAft>
            </a:pPr>
            <a:r>
              <a:rPr sz="1200" b="1">
                <a:solidFill>
                  <a:srgbClr val="032D60"/>
                </a:solidFill>
                <a:latin typeface="Arial"/>
              </a:rPr>
              <a:t>Salesforce</a:t>
            </a:r>
          </a:p>
          <a:p>
            <a:pPr>
              <a:spcBef>
                <a:spcPts val="200"/>
              </a:spcBef>
              <a:spcAft>
                <a:spcPts val="0"/>
              </a:spcAft>
            </a:pPr>
            <a:r>
              <a:rPr sz="1200" b="1">
                <a:solidFill>
                  <a:srgbClr val="181818"/>
                </a:solidFill>
                <a:latin typeface="Arial"/>
              </a:rPr>
              <a:t>✓ PV-001 Mapeo de Movimentos, tipificación y responsabilidad de implementación</a:t>
            </a:r>
            <a:r>
              <a:rPr sz="1100" b="0">
                <a:solidFill>
                  <a:srgbClr val="3E5570"/>
                </a:solidFill>
                <a:latin typeface="Arial"/>
              </a:rPr>
              <a:t>   Papa/Zanetti</a:t>
            </a:r>
          </a:p>
          <a:p>
            <a:pPr>
              <a:spcBef>
                <a:spcPts val="0"/>
              </a:spcBef>
              <a:spcAft>
                <a:spcPts val="0"/>
              </a:spcAft>
            </a:pPr>
            <a:r>
              <a:rPr sz="1100" b="0">
                <a:solidFill>
                  <a:srgbClr val="181818"/>
                </a:solidFill>
                <a:latin typeface="Arial"/>
              </a:rPr>
              <a:t>Contruir el mapa de movimentos de PV basados de acuerdo con las entidads envolvidas (Engagement Interaction, Case, Order, etc), responsable por la implementación y tipificación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058400" cy="7772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058400" cy="475488"/>
          </a:xfrm>
          <a:prstGeom prst="rect">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45720"/>
            <a:ext cx="9692640" cy="384048"/>
          </a:xfrm>
          <a:prstGeom prst="rect">
            <a:avLst/>
          </a:prstGeom>
          <a:noFill/>
        </p:spPr>
        <p:txBody>
          <a:bodyPr wrap="square" lIns="54864" rIns="54864" tIns="36576" bIns="18288" anchor="ctr"/>
          <a:lstStyle/>
          <a:p>
            <a:pPr algn="ctr"/>
            <a:r>
              <a:rPr sz="2200" b="1">
                <a:solidFill>
                  <a:srgbClr val="FFFFFF"/>
                </a:solidFill>
                <a:latin typeface="Arial"/>
              </a:rPr>
              <a:t>RM</a:t>
            </a:r>
          </a:p>
        </p:txBody>
      </p:sp>
      <p:sp>
        <p:nvSpPr>
          <p:cNvPr id="5" name="TextBox 4"/>
          <p:cNvSpPr txBox="1"/>
          <p:nvPr/>
        </p:nvSpPr>
        <p:spPr>
          <a:xfrm>
            <a:off x="201168" y="566928"/>
            <a:ext cx="3145536" cy="7040880"/>
          </a:xfrm>
          <a:prstGeom prst="rect">
            <a:avLst/>
          </a:prstGeom>
          <a:noFill/>
        </p:spPr>
        <p:txBody>
          <a:bodyPr wrap="square" lIns="54864" rIns="54864" tIns="36576" bIns="18288"/>
          <a:lstStyle/>
          <a:p>
            <a:pPr algn="l">
              <a:spcAft>
                <a:spcPts val="400"/>
              </a:spcAft>
            </a:pPr>
            <a:r>
              <a:rPr sz="1200" b="1">
                <a:solidFill>
                  <a:srgbClr val="032D60"/>
                </a:solidFill>
                <a:latin typeface="Arial"/>
              </a:rPr>
              <a:t>Por acordar:</a:t>
            </a:r>
          </a:p>
          <a:p>
            <a:pPr>
              <a:spcBef>
                <a:spcPts val="200"/>
              </a:spcBef>
            </a:pPr>
            <a:r>
              <a:rPr sz="1000" b="0">
                <a:solidFill>
                  <a:srgbClr val="3E5570"/>
                </a:solidFill>
                <a:latin typeface="Arial"/>
              </a:rPr>
              <a:t>Sin registros en el archivo para este día.</a:t>
            </a:r>
          </a:p>
        </p:txBody>
      </p:sp>
      <p:sp>
        <p:nvSpPr>
          <p:cNvPr id="6" name="TextBox 5"/>
          <p:cNvSpPr txBox="1"/>
          <p:nvPr/>
        </p:nvSpPr>
        <p:spPr>
          <a:xfrm>
            <a:off x="3456432" y="566928"/>
            <a:ext cx="3145536" cy="7040880"/>
          </a:xfrm>
          <a:prstGeom prst="rect">
            <a:avLst/>
          </a:prstGeom>
          <a:noFill/>
        </p:spPr>
        <p:txBody>
          <a:bodyPr wrap="square" lIns="54864" rIns="54864" tIns="36576" bIns="18288"/>
          <a:lstStyle/>
          <a:p>
            <a:pPr algn="l">
              <a:spcAft>
                <a:spcPts val="400"/>
              </a:spcAft>
            </a:pPr>
            <a:r>
              <a:rPr sz="1200" b="1">
                <a:solidFill>
                  <a:srgbClr val="032D60"/>
                </a:solidFill>
                <a:latin typeface="Arial"/>
              </a:rPr>
              <a:t>Acuerdos:</a:t>
            </a:r>
          </a:p>
          <a:p>
            <a:pPr>
              <a:spcBef>
                <a:spcPts val="200"/>
              </a:spcBef>
            </a:pPr>
            <a:r>
              <a:rPr sz="1000" b="0">
                <a:solidFill>
                  <a:srgbClr val="3E5570"/>
                </a:solidFill>
                <a:latin typeface="Arial"/>
              </a:rPr>
              <a:t>Sin registros en el archivo para este día.</a:t>
            </a:r>
          </a:p>
        </p:txBody>
      </p:sp>
      <p:sp>
        <p:nvSpPr>
          <p:cNvPr id="7" name="TextBox 6"/>
          <p:cNvSpPr txBox="1"/>
          <p:nvPr/>
        </p:nvSpPr>
        <p:spPr>
          <a:xfrm>
            <a:off x="6711696" y="566928"/>
            <a:ext cx="3145536" cy="7040880"/>
          </a:xfrm>
          <a:prstGeom prst="rect">
            <a:avLst/>
          </a:prstGeom>
          <a:noFill/>
        </p:spPr>
        <p:txBody>
          <a:bodyPr wrap="square" lIns="54864" rIns="54864" tIns="36576" bIns="18288"/>
          <a:lstStyle/>
          <a:p>
            <a:pPr algn="l">
              <a:spcAft>
                <a:spcPts val="400"/>
              </a:spcAft>
            </a:pPr>
            <a:r>
              <a:rPr sz="1100" b="1">
                <a:solidFill>
                  <a:srgbClr val="032D60"/>
                </a:solidFill>
                <a:latin typeface="Arial"/>
              </a:rPr>
              <a:t>Próximos pasos:</a:t>
            </a:r>
          </a:p>
          <a:p>
            <a:pPr>
              <a:spcBef>
                <a:spcPts val="200"/>
              </a:spcBef>
              <a:spcAft>
                <a:spcPts val="100"/>
              </a:spcAft>
            </a:pPr>
            <a:r>
              <a:rPr sz="900" b="1">
                <a:solidFill>
                  <a:srgbClr val="032D60"/>
                </a:solidFill>
                <a:latin typeface="Arial"/>
              </a:rPr>
              <a:t>Salesforce</a:t>
            </a:r>
          </a:p>
          <a:p>
            <a:pPr>
              <a:spcBef>
                <a:spcPts val="200"/>
              </a:spcBef>
              <a:spcAft>
                <a:spcPts val="0"/>
              </a:spcAft>
            </a:pPr>
            <a:r>
              <a:rPr sz="900" b="1">
                <a:solidFill>
                  <a:srgbClr val="181818"/>
                </a:solidFill>
                <a:latin typeface="Arial"/>
              </a:rPr>
              <a:t>✓ RM-001 Validar integración GitHub - Jira para mantener la organización y trazabilidad de los desarrollos</a:t>
            </a:r>
            <a:r>
              <a:rPr sz="800" b="0">
                <a:solidFill>
                  <a:srgbClr val="3E5570"/>
                </a:solidFill>
                <a:latin typeface="Arial"/>
              </a:rPr>
              <a:t>   Liliana Rojas · 09/10/2026</a:t>
            </a:r>
          </a:p>
          <a:p>
            <a:pPr>
              <a:spcBef>
                <a:spcPts val="200"/>
              </a:spcBef>
              <a:spcAft>
                <a:spcPts val="0"/>
              </a:spcAft>
            </a:pPr>
            <a:r>
              <a:rPr sz="900" b="1">
                <a:solidFill>
                  <a:srgbClr val="181818"/>
                </a:solidFill>
                <a:latin typeface="Arial"/>
              </a:rPr>
              <a:t>✓ RM-002 CATDiamond - documentación</a:t>
            </a:r>
            <a:r>
              <a:rPr sz="800" b="0">
                <a:solidFill>
                  <a:srgbClr val="3E5570"/>
                </a:solidFill>
                <a:latin typeface="Arial"/>
              </a:rPr>
              <a:t>   Liliana Rojas · 09/10/2026</a:t>
            </a:r>
          </a:p>
          <a:p>
            <a:pPr>
              <a:spcBef>
                <a:spcPts val="200"/>
              </a:spcBef>
              <a:spcAft>
                <a:spcPts val="0"/>
              </a:spcAft>
            </a:pPr>
            <a:r>
              <a:rPr sz="900" b="1">
                <a:solidFill>
                  <a:srgbClr val="181818"/>
                </a:solidFill>
                <a:latin typeface="Arial"/>
              </a:rPr>
              <a:t>✓ RM-003 Definición de baseline reconciliada</a:t>
            </a:r>
            <a:r>
              <a:rPr sz="800" b="0">
                <a:solidFill>
                  <a:srgbClr val="3E5570"/>
                </a:solidFill>
                <a:latin typeface="Arial"/>
              </a:rPr>
              <a:t>   Glenda Paiva · 09/10/2026</a:t>
            </a:r>
          </a:p>
          <a:p>
            <a:pPr>
              <a:spcBef>
                <a:spcPts val="200"/>
              </a:spcBef>
              <a:spcAft>
                <a:spcPts val="0"/>
              </a:spcAft>
            </a:pPr>
            <a:r>
              <a:rPr sz="900" b="1">
                <a:solidFill>
                  <a:srgbClr val="181818"/>
                </a:solidFill>
                <a:latin typeface="Arial"/>
              </a:rPr>
              <a:t>✓ RM-004 Hotfix vs FastTrack - documentación</a:t>
            </a:r>
            <a:r>
              <a:rPr sz="800" b="0">
                <a:solidFill>
                  <a:srgbClr val="3E5570"/>
                </a:solidFill>
                <a:latin typeface="Arial"/>
              </a:rPr>
              <a:t>   Wantuil Firmiano Junior · 09/10/2026</a:t>
            </a:r>
          </a:p>
          <a:p>
            <a:pPr>
              <a:spcBef>
                <a:spcPts val="200"/>
              </a:spcBef>
              <a:spcAft>
                <a:spcPts val="0"/>
              </a:spcAft>
            </a:pPr>
            <a:r>
              <a:rPr sz="900" b="1">
                <a:solidFill>
                  <a:srgbClr val="181818"/>
                </a:solidFill>
                <a:latin typeface="Arial"/>
              </a:rPr>
              <a:t>✓ RM-005 Métricas de desempeño RM - documentación</a:t>
            </a:r>
            <a:r>
              <a:rPr sz="800" b="0">
                <a:solidFill>
                  <a:srgbClr val="3E5570"/>
                </a:solidFill>
                <a:latin typeface="Arial"/>
              </a:rPr>
              <a:t>   Wantuil Firmiano Junior · 09/10/2026</a:t>
            </a:r>
          </a:p>
          <a:p>
            <a:pPr>
              <a:spcBef>
                <a:spcPts val="200"/>
              </a:spcBef>
              <a:spcAft>
                <a:spcPts val="0"/>
              </a:spcAft>
            </a:pPr>
            <a:r>
              <a:rPr sz="900" b="1">
                <a:solidFill>
                  <a:srgbClr val="181818"/>
                </a:solidFill>
                <a:latin typeface="Arial"/>
              </a:rPr>
              <a:t>✓ RM-007 Onboarding DevOps</a:t>
            </a:r>
            <a:r>
              <a:rPr sz="800" b="0">
                <a:solidFill>
                  <a:srgbClr val="3E5570"/>
                </a:solidFill>
                <a:latin typeface="Arial"/>
              </a:rPr>
              <a:t>   Glenda Paiva</a:t>
            </a:r>
          </a:p>
          <a:p>
            <a:pPr>
              <a:spcBef>
                <a:spcPts val="200"/>
              </a:spcBef>
              <a:spcAft>
                <a:spcPts val="0"/>
              </a:spcAft>
            </a:pPr>
            <a:r>
              <a:rPr sz="900" b="1">
                <a:solidFill>
                  <a:srgbClr val="181818"/>
                </a:solidFill>
                <a:latin typeface="Arial"/>
              </a:rPr>
              <a:t>✓ RM-008 Accesos github</a:t>
            </a:r>
            <a:r>
              <a:rPr sz="800" b="0">
                <a:solidFill>
                  <a:srgbClr val="3E5570"/>
                </a:solidFill>
                <a:latin typeface="Arial"/>
              </a:rPr>
              <a:t>   Wantuil Firmiano Junior</a:t>
            </a:r>
          </a:p>
          <a:p>
            <a:pPr>
              <a:spcBef>
                <a:spcPts val="200"/>
              </a:spcBef>
              <a:spcAft>
                <a:spcPts val="0"/>
              </a:spcAft>
            </a:pPr>
            <a:r>
              <a:rPr sz="900" b="1">
                <a:solidFill>
                  <a:srgbClr val="181818"/>
                </a:solidFill>
                <a:latin typeface="Arial"/>
              </a:rPr>
              <a:t>✓ RM-009 Reset de develop a main</a:t>
            </a:r>
            <a:r>
              <a:rPr sz="800" b="0">
                <a:solidFill>
                  <a:srgbClr val="3E5570"/>
                </a:solidFill>
                <a:latin typeface="Arial"/>
              </a:rPr>
              <a:t>   Glenda Paiva / Liliana Rojas · 14/10/2026</a:t>
            </a:r>
          </a:p>
          <a:p>
            <a:pPr>
              <a:spcBef>
                <a:spcPts val="200"/>
              </a:spcBef>
              <a:spcAft>
                <a:spcPts val="0"/>
              </a:spcAft>
            </a:pPr>
            <a:r>
              <a:rPr sz="900" b="1">
                <a:solidFill>
                  <a:srgbClr val="181818"/>
                </a:solidFill>
                <a:latin typeface="Arial"/>
              </a:rPr>
              <a:t>✓ RM-010 Arranque paralelo de refreshes: dev01, QA, devQA, SIT, devSIT, UAT, devUAT, capacita, fstdev, fstqa, CATDiamond y orgs de hotfix</a:t>
            </a:r>
            <a:r>
              <a:rPr sz="800" b="0">
                <a:solidFill>
                  <a:srgbClr val="3E5570"/>
                </a:solidFill>
                <a:latin typeface="Arial"/>
              </a:rPr>
              <a:t>   Glenda Paiva / Liliana Rojas · 29/10/2026</a:t>
            </a:r>
          </a:p>
          <a:p>
            <a:pPr>
              <a:spcBef>
                <a:spcPts val="200"/>
              </a:spcBef>
              <a:spcAft>
                <a:spcPts val="0"/>
              </a:spcAft>
            </a:pPr>
            <a:r>
              <a:rPr sz="900" b="1">
                <a:solidFill>
                  <a:srgbClr val="181818"/>
                </a:solidFill>
                <a:latin typeface="Arial"/>
              </a:rPr>
              <a:t>✓ RM-011 Configuración pipeline Github</a:t>
            </a:r>
            <a:r>
              <a:rPr sz="800" b="0">
                <a:solidFill>
                  <a:srgbClr val="3E5570"/>
                </a:solidFill>
                <a:latin typeface="Arial"/>
              </a:rPr>
              <a:t>   Glenda Paiva / Liliana Rojas · 29/10/2026</a:t>
            </a:r>
          </a:p>
          <a:p>
            <a:pPr>
              <a:spcBef>
                <a:spcPts val="200"/>
              </a:spcBef>
              <a:spcAft>
                <a:spcPts val="0"/>
              </a:spcAft>
            </a:pPr>
            <a:r>
              <a:rPr sz="900" b="1">
                <a:solidFill>
                  <a:srgbClr val="181818"/>
                </a:solidFill>
                <a:latin typeface="Arial"/>
              </a:rPr>
              <a:t>✓ RM-012 Deploy del baseline en dev01 (post-refresh)</a:t>
            </a:r>
            <a:r>
              <a:rPr sz="800" b="0">
                <a:solidFill>
                  <a:srgbClr val="3E5570"/>
                </a:solidFill>
                <a:latin typeface="Arial"/>
              </a:rPr>
              <a:t>   Glenda Paiva / Liliana Rojas · 30/10/2026</a:t>
            </a:r>
          </a:p>
          <a:p>
            <a:pPr>
              <a:spcBef>
                <a:spcPts val="200"/>
              </a:spcBef>
              <a:spcAft>
                <a:spcPts val="0"/>
              </a:spcAft>
            </a:pPr>
            <a:r>
              <a:rPr sz="900" b="1">
                <a:solidFill>
                  <a:srgbClr val="181818"/>
                </a:solidFill>
                <a:latin typeface="Arial"/>
              </a:rPr>
              <a:t>✓ RM-013 Arranque del refresh de las 5 orgs de dev desde dev01</a:t>
            </a:r>
            <a:r>
              <a:rPr sz="800" b="0">
                <a:solidFill>
                  <a:srgbClr val="3E5570"/>
                </a:solidFill>
                <a:latin typeface="Arial"/>
              </a:rPr>
              <a:t>   Glenda Paiva / Liliana Rojas · 30/10/2026</a:t>
            </a:r>
          </a:p>
          <a:p>
            <a:pPr>
              <a:spcBef>
                <a:spcPts val="500"/>
              </a:spcBef>
              <a:spcAft>
                <a:spcPts val="100"/>
              </a:spcAft>
            </a:pPr>
            <a:r>
              <a:rPr sz="900" b="1">
                <a:solidFill>
                  <a:srgbClr val="032D60"/>
                </a:solidFill>
                <a:latin typeface="Arial"/>
              </a:rPr>
              <a:t>Equipo conjunto</a:t>
            </a:r>
          </a:p>
          <a:p>
            <a:pPr>
              <a:spcBef>
                <a:spcPts val="200"/>
              </a:spcBef>
              <a:spcAft>
                <a:spcPts val="0"/>
              </a:spcAft>
            </a:pPr>
            <a:r>
              <a:rPr sz="900" b="1">
                <a:solidFill>
                  <a:srgbClr val="181818"/>
                </a:solidFill>
                <a:latin typeface="Arial"/>
              </a:rPr>
              <a:t>✓ RM-006 Definición del plan de release (cronograma del proyecto)</a:t>
            </a:r>
            <a:r>
              <a:rPr sz="800" b="0">
                <a:solidFill>
                  <a:srgbClr val="3E5570"/>
                </a:solidFill>
                <a:latin typeface="Arial"/>
              </a:rPr>
              <a:t>   Wantuil Firmiano / Jose Luis Partida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058400" cy="7772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058400" cy="475488"/>
          </a:xfrm>
          <a:prstGeom prst="rect">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45720"/>
            <a:ext cx="9692640" cy="384048"/>
          </a:xfrm>
          <a:prstGeom prst="rect">
            <a:avLst/>
          </a:prstGeom>
          <a:noFill/>
        </p:spPr>
        <p:txBody>
          <a:bodyPr wrap="square" lIns="54864" rIns="54864" tIns="36576" bIns="18288" anchor="ctr"/>
          <a:lstStyle/>
          <a:p>
            <a:pPr algn="ctr"/>
            <a:r>
              <a:rPr sz="2200" b="1">
                <a:solidFill>
                  <a:srgbClr val="FFFFFF"/>
                </a:solidFill>
                <a:latin typeface="Arial"/>
              </a:rPr>
              <a:t>Cross</a:t>
            </a:r>
          </a:p>
        </p:txBody>
      </p:sp>
      <p:sp>
        <p:nvSpPr>
          <p:cNvPr id="5" name="TextBox 4"/>
          <p:cNvSpPr txBox="1"/>
          <p:nvPr/>
        </p:nvSpPr>
        <p:spPr>
          <a:xfrm>
            <a:off x="201168" y="566928"/>
            <a:ext cx="3145536" cy="7040880"/>
          </a:xfrm>
          <a:prstGeom prst="rect">
            <a:avLst/>
          </a:prstGeom>
          <a:noFill/>
        </p:spPr>
        <p:txBody>
          <a:bodyPr wrap="square" lIns="54864" rIns="54864" tIns="36576" bIns="18288"/>
          <a:lstStyle/>
          <a:p>
            <a:pPr algn="l">
              <a:spcAft>
                <a:spcPts val="400"/>
              </a:spcAft>
            </a:pPr>
            <a:r>
              <a:rPr sz="1200" b="1">
                <a:solidFill>
                  <a:srgbClr val="032D60"/>
                </a:solidFill>
                <a:latin typeface="Arial"/>
              </a:rPr>
              <a:t>Por acordar:</a:t>
            </a:r>
          </a:p>
          <a:p>
            <a:pPr>
              <a:spcBef>
                <a:spcPts val="200"/>
              </a:spcBef>
            </a:pPr>
            <a:r>
              <a:rPr sz="1000" b="0">
                <a:solidFill>
                  <a:srgbClr val="3E5570"/>
                </a:solidFill>
                <a:latin typeface="Arial"/>
              </a:rPr>
              <a:t>Sin registros en el archivo para este día.</a:t>
            </a:r>
          </a:p>
        </p:txBody>
      </p:sp>
      <p:sp>
        <p:nvSpPr>
          <p:cNvPr id="6" name="TextBox 5"/>
          <p:cNvSpPr txBox="1"/>
          <p:nvPr/>
        </p:nvSpPr>
        <p:spPr>
          <a:xfrm>
            <a:off x="3456432" y="566928"/>
            <a:ext cx="3145536" cy="7040880"/>
          </a:xfrm>
          <a:prstGeom prst="rect">
            <a:avLst/>
          </a:prstGeom>
          <a:noFill/>
        </p:spPr>
        <p:txBody>
          <a:bodyPr wrap="square" lIns="54864" rIns="54864" tIns="36576" bIns="18288"/>
          <a:lstStyle/>
          <a:p>
            <a:pPr algn="l">
              <a:spcAft>
                <a:spcPts val="400"/>
              </a:spcAft>
            </a:pPr>
            <a:r>
              <a:rPr sz="1200" b="1">
                <a:solidFill>
                  <a:srgbClr val="032D60"/>
                </a:solidFill>
                <a:latin typeface="Arial"/>
              </a:rPr>
              <a:t>Acuerdos:</a:t>
            </a:r>
          </a:p>
          <a:p>
            <a:pPr>
              <a:spcBef>
                <a:spcPts val="200"/>
              </a:spcBef>
            </a:pPr>
            <a:r>
              <a:rPr sz="1000" b="0">
                <a:solidFill>
                  <a:srgbClr val="3E5570"/>
                </a:solidFill>
                <a:latin typeface="Arial"/>
              </a:rPr>
              <a:t>Sin registros en el archivo para este día.</a:t>
            </a:r>
          </a:p>
        </p:txBody>
      </p:sp>
      <p:sp>
        <p:nvSpPr>
          <p:cNvPr id="7" name="TextBox 6"/>
          <p:cNvSpPr txBox="1"/>
          <p:nvPr/>
        </p:nvSpPr>
        <p:spPr>
          <a:xfrm>
            <a:off x="6711696" y="566928"/>
            <a:ext cx="3145536" cy="7040880"/>
          </a:xfrm>
          <a:prstGeom prst="rect">
            <a:avLst/>
          </a:prstGeom>
          <a:noFill/>
        </p:spPr>
        <p:txBody>
          <a:bodyPr wrap="square" lIns="54864" rIns="54864" tIns="36576" bIns="18288"/>
          <a:lstStyle/>
          <a:p>
            <a:pPr algn="l">
              <a:spcAft>
                <a:spcPts val="400"/>
              </a:spcAft>
            </a:pPr>
            <a:r>
              <a:rPr sz="1200" b="1">
                <a:solidFill>
                  <a:srgbClr val="032D60"/>
                </a:solidFill>
                <a:latin typeface="Arial"/>
              </a:rPr>
              <a:t>Próximos pasos:</a:t>
            </a:r>
          </a:p>
          <a:p>
            <a:pPr>
              <a:spcBef>
                <a:spcPts val="200"/>
              </a:spcBef>
              <a:spcAft>
                <a:spcPts val="100"/>
              </a:spcAft>
            </a:pPr>
            <a:r>
              <a:rPr sz="1000" b="1">
                <a:solidFill>
                  <a:srgbClr val="032D60"/>
                </a:solidFill>
                <a:latin typeface="Arial"/>
              </a:rPr>
              <a:t>Equipo</a:t>
            </a:r>
          </a:p>
          <a:p>
            <a:pPr>
              <a:spcBef>
                <a:spcPts val="200"/>
              </a:spcBef>
              <a:spcAft>
                <a:spcPts val="0"/>
              </a:spcAft>
            </a:pPr>
            <a:r>
              <a:rPr sz="1000" b="1">
                <a:solidFill>
                  <a:srgbClr val="181818"/>
                </a:solidFill>
                <a:latin typeface="Arial"/>
              </a:rPr>
              <a:t>✓ ARQ-03 Entregar estructura comercial por empresa</a:t>
            </a:r>
            <a:r>
              <a:rPr sz="900" b="0">
                <a:solidFill>
                  <a:srgbClr val="3E5570"/>
                </a:solidFill>
                <a:latin typeface="Arial"/>
              </a:rPr>
              <a:t>   Por asignar · 16/10/2026</a:t>
            </a:r>
          </a:p>
          <a:p>
            <a:pPr>
              <a:spcBef>
                <a:spcPts val="200"/>
              </a:spcBef>
              <a:spcAft>
                <a:spcPts val="0"/>
              </a:spcAft>
            </a:pPr>
            <a:r>
              <a:rPr sz="1000" b="1">
                <a:solidFill>
                  <a:srgbClr val="181818"/>
                </a:solidFill>
                <a:latin typeface="Arial"/>
              </a:rPr>
              <a:t>✓ ARQ-08 Habilitar accesos y licencias de GitHub y ADP</a:t>
            </a:r>
            <a:r>
              <a:rPr sz="900" b="0">
                <a:solidFill>
                  <a:srgbClr val="3E5570"/>
                </a:solidFill>
                <a:latin typeface="Arial"/>
              </a:rPr>
              <a:t>   Por definir · 14/10/2026</a:t>
            </a:r>
          </a:p>
          <a:p>
            <a:pPr>
              <a:spcBef>
                <a:spcPts val="200"/>
              </a:spcBef>
              <a:spcAft>
                <a:spcPts val="0"/>
              </a:spcAft>
            </a:pPr>
            <a:r>
              <a:rPr sz="1000" b="1">
                <a:solidFill>
                  <a:srgbClr val="181818"/>
                </a:solidFill>
                <a:latin typeface="Arial"/>
              </a:rPr>
              <a:t>✓ ARQ-09 Confirmar ambientes disponibles</a:t>
            </a:r>
            <a:r>
              <a:rPr sz="900" b="0">
                <a:solidFill>
                  <a:srgbClr val="3E5570"/>
                </a:solidFill>
                <a:latin typeface="Arial"/>
              </a:rPr>
              <a:t>   Por definir · 16/10/2026</a:t>
            </a:r>
          </a:p>
          <a:p>
            <a:pPr>
              <a:spcBef>
                <a:spcPts val="200"/>
              </a:spcBef>
              <a:spcAft>
                <a:spcPts val="0"/>
              </a:spcAft>
            </a:pPr>
            <a:r>
              <a:rPr sz="1000" b="1">
                <a:solidFill>
                  <a:srgbClr val="181818"/>
                </a:solidFill>
                <a:latin typeface="Arial"/>
              </a:rPr>
              <a:t>✓ ARQ-11 Validar modelo de cuentas con POs de Telmex / Resto de equipo Salesforce</a:t>
            </a:r>
            <a:r>
              <a:rPr sz="900" b="0">
                <a:solidFill>
                  <a:srgbClr val="3E5570"/>
                </a:solidFill>
                <a:latin typeface="Arial"/>
              </a:rPr>
              <a:t>   Por definir · 28/10/2026</a:t>
            </a:r>
          </a:p>
          <a:p>
            <a:pPr>
              <a:spcBef>
                <a:spcPts val="500"/>
              </a:spcBef>
              <a:spcAft>
                <a:spcPts val="100"/>
              </a:spcAft>
            </a:pPr>
            <a:r>
              <a:rPr sz="1000" b="1">
                <a:solidFill>
                  <a:srgbClr val="032D60"/>
                </a:solidFill>
                <a:latin typeface="Arial"/>
              </a:rPr>
              <a:t>Salesforce</a:t>
            </a:r>
          </a:p>
          <a:p>
            <a:pPr>
              <a:spcBef>
                <a:spcPts val="200"/>
              </a:spcBef>
              <a:spcAft>
                <a:spcPts val="0"/>
              </a:spcAft>
            </a:pPr>
            <a:r>
              <a:rPr sz="1000" b="1">
                <a:solidFill>
                  <a:srgbClr val="181818"/>
                </a:solidFill>
                <a:latin typeface="Arial"/>
              </a:rPr>
              <a:t>✓ ARQ-02 Análisis de impacto en el modelo de seguridad (Telmex / Telnor)</a:t>
            </a:r>
            <a:r>
              <a:rPr sz="900" b="0">
                <a:solidFill>
                  <a:srgbClr val="3E5570"/>
                </a:solidFill>
                <a:latin typeface="Arial"/>
              </a:rPr>
              <a:t>   Por asignar · 23/10/2026</a:t>
            </a:r>
          </a:p>
          <a:p>
            <a:pPr>
              <a:spcBef>
                <a:spcPts val="200"/>
              </a:spcBef>
              <a:spcAft>
                <a:spcPts val="0"/>
              </a:spcAft>
            </a:pPr>
            <a:r>
              <a:rPr sz="1000" b="1">
                <a:solidFill>
                  <a:srgbClr val="181818"/>
                </a:solidFill>
                <a:latin typeface="Arial"/>
              </a:rPr>
              <a:t>✓ ARQ-04 Implementación base del modelo de seguridad</a:t>
            </a:r>
            <a:r>
              <a:rPr sz="900" b="0">
                <a:solidFill>
                  <a:srgbClr val="3E5570"/>
                </a:solidFill>
                <a:latin typeface="Arial"/>
              </a:rPr>
              <a:t>   Por asignar · 20/11/2026</a:t>
            </a:r>
          </a:p>
          <a:p>
            <a:pPr>
              <a:spcBef>
                <a:spcPts val="200"/>
              </a:spcBef>
              <a:spcAft>
                <a:spcPts val="0"/>
              </a:spcAft>
            </a:pPr>
            <a:r>
              <a:rPr sz="1000" b="1">
                <a:solidFill>
                  <a:srgbClr val="181818"/>
                </a:solidFill>
                <a:latin typeface="Arial"/>
              </a:rPr>
              <a:t>✓ ARQ-05 Definir línea base de desarrollo</a:t>
            </a:r>
            <a:r>
              <a:rPr sz="900" b="0">
                <a:solidFill>
                  <a:srgbClr val="3E5570"/>
                </a:solidFill>
                <a:latin typeface="Arial"/>
              </a:rPr>
              <a:t>   Por asignar · 16/10/2026</a:t>
            </a:r>
          </a:p>
          <a:p>
            <a:pPr>
              <a:spcBef>
                <a:spcPts val="200"/>
              </a:spcBef>
              <a:spcAft>
                <a:spcPts val="0"/>
              </a:spcAft>
            </a:pPr>
            <a:r>
              <a:rPr sz="1000" b="1">
                <a:solidFill>
                  <a:srgbClr val="181818"/>
                </a:solidFill>
                <a:latin typeface="Arial"/>
              </a:rPr>
              <a:t>✓ ARQ-06 Cerrar matriz de recuperación de componentes R2</a:t>
            </a:r>
            <a:r>
              <a:rPr sz="900" b="0">
                <a:solidFill>
                  <a:srgbClr val="3E5570"/>
                </a:solidFill>
                <a:latin typeface="Arial"/>
              </a:rPr>
              <a:t>   Por asignar · 14/10/2026</a:t>
            </a:r>
          </a:p>
          <a:p>
            <a:pPr>
              <a:spcBef>
                <a:spcPts val="200"/>
              </a:spcBef>
              <a:spcAft>
                <a:spcPts val="0"/>
              </a:spcAft>
            </a:pPr>
            <a:r>
              <a:rPr sz="1000" b="1">
                <a:solidFill>
                  <a:srgbClr val="181818"/>
                </a:solidFill>
                <a:latin typeface="Arial"/>
              </a:rPr>
              <a:t>✓ ARQ-07 Definir estrategia de uso de ADP con GitHub</a:t>
            </a:r>
            <a:r>
              <a:rPr sz="900" b="0">
                <a:solidFill>
                  <a:srgbClr val="3E5570"/>
                </a:solidFill>
                <a:latin typeface="Arial"/>
              </a:rPr>
              <a:t>   Por asignar · 23/10/2026</a:t>
            </a:r>
          </a:p>
          <a:p>
            <a:pPr>
              <a:spcBef>
                <a:spcPts val="200"/>
              </a:spcBef>
              <a:spcAft>
                <a:spcPts val="0"/>
              </a:spcAft>
            </a:pPr>
            <a:r>
              <a:rPr sz="1000" b="1">
                <a:solidFill>
                  <a:srgbClr val="181818"/>
                </a:solidFill>
                <a:latin typeface="Arial"/>
              </a:rPr>
              <a:t>✓ ARQ-10 Definir modelo de cuentas definitivo</a:t>
            </a:r>
            <a:r>
              <a:rPr sz="900" b="0">
                <a:solidFill>
                  <a:srgbClr val="3E5570"/>
                </a:solidFill>
                <a:latin typeface="Arial"/>
              </a:rPr>
              <a:t>   Por definir · 23/10/2026</a:t>
            </a:r>
          </a:p>
          <a:p>
            <a:pPr>
              <a:spcBef>
                <a:spcPts val="200"/>
              </a:spcBef>
              <a:spcAft>
                <a:spcPts val="0"/>
              </a:spcAft>
            </a:pPr>
            <a:r>
              <a:rPr sz="1000" b="1">
                <a:solidFill>
                  <a:srgbClr val="181818"/>
                </a:solidFill>
                <a:latin typeface="Arial"/>
              </a:rPr>
              <a:t>✓ ARQ-12 Definir tratamiento de deuda técnica</a:t>
            </a:r>
            <a:r>
              <a:rPr sz="900" b="0">
                <a:solidFill>
                  <a:srgbClr val="3E5570"/>
                </a:solidFill>
                <a:latin typeface="Arial"/>
              </a:rPr>
              <a:t>   Por definir · 30/10/2026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Resumen ejecutivo 06/10/2026</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